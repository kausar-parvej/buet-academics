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2"/>
  </p:notesMasterIdLst>
  <p:sldIdLst>
    <p:sldId id="276" r:id="rId2"/>
    <p:sldId id="277" r:id="rId3"/>
    <p:sldId id="278" r:id="rId4"/>
    <p:sldId id="257" r:id="rId5"/>
    <p:sldId id="265" r:id="rId6"/>
    <p:sldId id="266" r:id="rId7"/>
    <p:sldId id="273" r:id="rId8"/>
    <p:sldId id="274" r:id="rId9"/>
    <p:sldId id="275" r:id="rId10"/>
    <p:sldId id="258" r:id="rId11"/>
    <p:sldId id="264" r:id="rId12"/>
    <p:sldId id="259" r:id="rId13"/>
    <p:sldId id="260" r:id="rId14"/>
    <p:sldId id="261" r:id="rId15"/>
    <p:sldId id="267" r:id="rId16"/>
    <p:sldId id="268" r:id="rId17"/>
    <p:sldId id="270" r:id="rId18"/>
    <p:sldId id="262" r:id="rId19"/>
    <p:sldId id="271" r:id="rId20"/>
    <p:sldId id="272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00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92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7A04FF-55F0-4C19-889C-9131216DA138}" type="datetimeFigureOut">
              <a:rPr lang="en-US" smtClean="0"/>
              <a:pPr/>
              <a:t>11/29/2023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ECF7BE-7F38-4BB0-B821-C50FCF32C08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DDF46-D1ED-40A4-B7CD-A1E4C39687CC}" type="datetime1">
              <a:rPr lang="en-US" smtClean="0"/>
              <a:t>11/29/2023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F9270-67FB-47A8-A906-F7A23D0DC9A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88F57-634C-4C3C-B83E-B401D5F8BCCE}" type="datetime1">
              <a:rPr lang="en-US" smtClean="0"/>
              <a:t>11/29/2023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F9270-67FB-47A8-A906-F7A23D0DC9A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5EAC-2EDC-4572-88C7-1C1024DD828C}" type="datetime1">
              <a:rPr lang="en-US" smtClean="0"/>
              <a:t>11/29/2023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F9270-67FB-47A8-A906-F7A23D0DC9A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BEB4B-C57D-4D58-9AAA-31A24626CF71}" type="datetime1">
              <a:rPr lang="en-US" smtClean="0"/>
              <a:t>11/29/2023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F9270-67FB-47A8-A906-F7A23D0DC9A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2CCF7-A23C-4349-8081-3CB9D6DF3A56}" type="datetime1">
              <a:rPr lang="en-US" smtClean="0"/>
              <a:t>11/29/2023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F9270-67FB-47A8-A906-F7A23D0DC9A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3BFA8-A417-4DE5-ADE2-DDAA1CD64729}" type="datetime1">
              <a:rPr lang="en-US" smtClean="0"/>
              <a:t>11/29/2023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F9270-67FB-47A8-A906-F7A23D0DC9A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900D-1E75-44B5-94B1-33880EC0FABD}" type="datetime1">
              <a:rPr lang="en-US" smtClean="0"/>
              <a:t>11/29/2023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F9270-67FB-47A8-A906-F7A23D0DC9A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460E2-13DD-4215-89B6-88326F1A030D}" type="datetime1">
              <a:rPr lang="en-US" smtClean="0"/>
              <a:t>11/29/2023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F9270-67FB-47A8-A906-F7A23D0DC9A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C073D-2BCB-4173-B989-04DAFA105E2B}" type="datetime1">
              <a:rPr lang="en-US" smtClean="0"/>
              <a:t>11/29/2023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F9270-67FB-47A8-A906-F7A23D0DC9A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C4147-B100-4A93-B368-B6DF51BF3540}" type="datetime1">
              <a:rPr lang="en-US" smtClean="0"/>
              <a:t>11/29/2023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F9270-67FB-47A8-A906-F7A23D0DC9A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26732-A723-4D38-A372-9C3860F5195C}" type="datetime1">
              <a:rPr lang="en-US" smtClean="0"/>
              <a:t>11/29/2023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F9270-67FB-47A8-A906-F7A23D0DC9A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E5E687-0431-4DFB-9D9B-BD961A30A701}" type="datetime1">
              <a:rPr lang="en-US" smtClean="0"/>
              <a:t>11/29/2023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Dept of CSE, BUET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DF9270-67FB-47A8-A906-F7A23D0DC9A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5C842-F198-9F18-7DAA-B712D80CA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Welcome to Level - 3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6E99AB-CBAF-DDDF-67CC-BD1748A22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3BFA8-A417-4DE5-ADE2-DDAA1CD64729}" type="datetime1">
              <a:rPr lang="en-US" smtClean="0"/>
              <a:t>11/29/2023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6D664D-E30B-F25B-3024-A54B98821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6E9027-D765-6158-5AB5-7BA5B58DC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F9270-67FB-47A8-A906-F7A23D0DC9A5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1026" name="Picture 2" descr="Cartoon Fire Flames PNG Transparent Background, Free Download #44283 -  FreeIconsPNG">
            <a:extLst>
              <a:ext uri="{FF2B5EF4-FFF2-40B4-BE49-F238E27FC236}">
                <a16:creationId xmlns:a16="http://schemas.microsoft.com/office/drawing/2014/main" id="{DC46B013-030C-E042-7AEC-98EEB66CC2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0937" y="2438400"/>
            <a:ext cx="1762125" cy="2171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5290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D1263-EE7E-E656-730C-E0F9067BC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Good Practices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844C74-D09D-FF22-1BCE-FFBB850CD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3BFA8-A417-4DE5-ADE2-DDAA1CD64729}" type="datetime1">
              <a:rPr lang="en-US" smtClean="0"/>
              <a:t>11/29/2023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E57F1C-5C21-7BD1-F05E-C8489836D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2C8BB2-122A-6614-2928-17D8A4F8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F9270-67FB-47A8-A906-F7A23D0DC9A5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2050" name="Picture 2" descr="Computer Icons Sleep Clip Art - Sleeping Clipart Png, Transparent Png -  kindpng">
            <a:extLst>
              <a:ext uri="{FF2B5EF4-FFF2-40B4-BE49-F238E27FC236}">
                <a16:creationId xmlns:a16="http://schemas.microsoft.com/office/drawing/2014/main" id="{46157FE9-334B-D825-0C28-5702E46384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2" y="2635102"/>
            <a:ext cx="2667000" cy="1587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ealthy Food Png Clipart - Fruit And Vegetables Foods PNG Image |  Transparent PNG Free Download on SeekPNG">
            <a:extLst>
              <a:ext uri="{FF2B5EF4-FFF2-40B4-BE49-F238E27FC236}">
                <a16:creationId xmlns:a16="http://schemas.microsoft.com/office/drawing/2014/main" id="{A7A2D350-614F-50C4-C95F-EF32512EEA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71" r="12018"/>
          <a:stretch/>
        </p:blipFill>
        <p:spPr bwMode="auto">
          <a:xfrm>
            <a:off x="3679371" y="2635101"/>
            <a:ext cx="2362200" cy="1587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clipart study group - Clip Art Library">
            <a:extLst>
              <a:ext uri="{FF2B5EF4-FFF2-40B4-BE49-F238E27FC236}">
                <a16:creationId xmlns:a16="http://schemas.microsoft.com/office/drawing/2014/main" id="{245E6B74-85AD-157F-2614-97F85A25A3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6512" y="2505075"/>
            <a:ext cx="2466975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1190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6A948-FAD1-6C7E-1438-DB837DEC1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Must Avoid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BDCF73-4E4B-957B-3892-B357EF577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3BFA8-A417-4DE5-ADE2-DDAA1CD64729}" type="datetime1">
              <a:rPr lang="en-US" smtClean="0"/>
              <a:t>11/29/2023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6703FB-9C0F-64EB-13F2-6C2E8102F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E17BE8-42E2-D113-34F2-8F77D943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F9270-67FB-47A8-A906-F7A23D0DC9A5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3074" name="Picture 2" descr="Teaching About Plagiarism In The Online Classroom - eLearning Industry">
            <a:extLst>
              <a:ext uri="{FF2B5EF4-FFF2-40B4-BE49-F238E27FC236}">
                <a16:creationId xmlns:a16="http://schemas.microsoft.com/office/drawing/2014/main" id="{04C5E4CF-4FFB-F808-2DF2-687663F991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517162"/>
            <a:ext cx="3698875" cy="3823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work demotivation, learn how to avoid this and keep your team happy">
            <a:extLst>
              <a:ext uri="{FF2B5EF4-FFF2-40B4-BE49-F238E27FC236}">
                <a16:creationId xmlns:a16="http://schemas.microsoft.com/office/drawing/2014/main" id="{8AD6C8A5-3CB9-F5D2-7C3B-E01CB66BA7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199" y="1507033"/>
            <a:ext cx="4546885" cy="3823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927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4114800"/>
          </a:xfrm>
        </p:spPr>
        <p:txBody>
          <a:bodyPr>
            <a:normAutofit/>
          </a:bodyPr>
          <a:lstStyle/>
          <a:p>
            <a:r>
              <a:rPr lang="en-US" sz="7200" b="1" dirty="0">
                <a:solidFill>
                  <a:schemeClr val="tx2"/>
                </a:solidFill>
                <a:latin typeface="Candara" pitchFamily="34" charset="0"/>
              </a:rPr>
              <a:t>Welcome</a:t>
            </a:r>
            <a:br>
              <a:rPr lang="en-US" sz="7200" b="1" dirty="0">
                <a:solidFill>
                  <a:schemeClr val="tx2"/>
                </a:solidFill>
                <a:latin typeface="Candara" pitchFamily="34" charset="0"/>
              </a:rPr>
            </a:br>
            <a:r>
              <a:rPr lang="en-US" sz="7200" b="1" dirty="0">
                <a:solidFill>
                  <a:schemeClr val="tx2"/>
                </a:solidFill>
                <a:latin typeface="Candara" pitchFamily="34" charset="0"/>
              </a:rPr>
              <a:t>to </a:t>
            </a:r>
            <a:br>
              <a:rPr lang="en-US" sz="7200" b="1" dirty="0">
                <a:solidFill>
                  <a:schemeClr val="tx2"/>
                </a:solidFill>
                <a:latin typeface="Candara" pitchFamily="34" charset="0"/>
              </a:rPr>
            </a:br>
            <a:r>
              <a:rPr lang="en-US" sz="7200" b="1" dirty="0">
                <a:solidFill>
                  <a:schemeClr val="tx2"/>
                </a:solidFill>
                <a:latin typeface="Candara" pitchFamily="34" charset="0"/>
              </a:rPr>
              <a:t>CSE 310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E788E-2F7A-4C04-B120-E02A89A855F6}" type="datetime1">
              <a:rPr lang="en-US" smtClean="0"/>
              <a:t>11/29/2023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F9270-67FB-47A8-A906-F7A23D0DC9A5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  <a:latin typeface="Candara" pitchFamily="34" charset="0"/>
              </a:rPr>
              <a:t>Compiler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ndara" pitchFamily="34" charset="0"/>
              </a:rPr>
              <a:t>Convert one source program to a target program</a:t>
            </a:r>
          </a:p>
          <a:p>
            <a:r>
              <a:rPr lang="en-US" dirty="0">
                <a:latin typeface="Candara" pitchFamily="34" charset="0"/>
              </a:rPr>
              <a:t>The compilation process usually divided into several phases</a:t>
            </a:r>
          </a:p>
          <a:p>
            <a:endParaRPr lang="en-US" dirty="0">
              <a:latin typeface="Candara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CF4DD-3416-45A5-9B21-81FB5691D3C2}" type="datetime1">
              <a:rPr lang="en-US" smtClean="0"/>
              <a:t>11/29/2023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F9270-67FB-47A8-A906-F7A23D0DC9A5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6" name="Picture 5" descr="compil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886200"/>
            <a:ext cx="6505575" cy="2085975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  <a:latin typeface="Candara" pitchFamily="34" charset="0"/>
              </a:rPr>
              <a:t>Compiler</a:t>
            </a:r>
          </a:p>
        </p:txBody>
      </p:sp>
      <p:pic>
        <p:nvPicPr>
          <p:cNvPr id="7" name="Content Placeholder 6" descr="Capture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2600" y="1143000"/>
            <a:ext cx="5486400" cy="5486400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54B43-A32E-4E56-A79A-8A69A9FF5F4D}" type="datetime1">
              <a:rPr lang="en-US" smtClean="0"/>
              <a:t>11/29/2023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F9270-67FB-47A8-A906-F7A23D0DC9A5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  <a:latin typeface="Candara" pitchFamily="34" charset="0"/>
              </a:rPr>
              <a:t>Compiler</a:t>
            </a:r>
          </a:p>
        </p:txBody>
      </p:sp>
      <p:pic>
        <p:nvPicPr>
          <p:cNvPr id="7" name="Content Placeholder 6" descr="Capture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57600" y="869950"/>
            <a:ext cx="5486400" cy="5486400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54B43-A32E-4E56-A79A-8A69A9FF5F4D}" type="datetime1">
              <a:rPr lang="en-US" smtClean="0"/>
              <a:t>11/29/2023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F9270-67FB-47A8-A906-F7A23D0DC9A5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9E964B-B7D5-4D7A-8462-60E853C43E76}"/>
              </a:ext>
            </a:extLst>
          </p:cNvPr>
          <p:cNvSpPr txBox="1"/>
          <p:nvPr/>
        </p:nvSpPr>
        <p:spPr>
          <a:xfrm>
            <a:off x="114300" y="1006475"/>
            <a:ext cx="39243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Lexical Analyzer takes the source program as input and converts it into a stream of tokens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To be used by the syntax analyzer later 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Also detects some lexical errors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Ill formed number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Improper variable declaration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Unfinished string/comment etc.</a:t>
            </a:r>
          </a:p>
        </p:txBody>
      </p:sp>
    </p:spTree>
    <p:extLst>
      <p:ext uri="{BB962C8B-B14F-4D97-AF65-F5344CB8AC3E}">
        <p14:creationId xmlns:p14="http://schemas.microsoft.com/office/powerpoint/2010/main" val="831983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  <a:latin typeface="Candara" pitchFamily="34" charset="0"/>
              </a:rPr>
              <a:t>Compiler</a:t>
            </a:r>
          </a:p>
        </p:txBody>
      </p:sp>
      <p:pic>
        <p:nvPicPr>
          <p:cNvPr id="7" name="Content Placeholder 6" descr="Capture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57600" y="869950"/>
            <a:ext cx="5486400" cy="5486400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54B43-A32E-4E56-A79A-8A69A9FF5F4D}" type="datetime1">
              <a:rPr lang="en-US" smtClean="0"/>
              <a:t>11/29/2023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F9270-67FB-47A8-A906-F7A23D0DC9A5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9E964B-B7D5-4D7A-8462-60E853C43E76}"/>
              </a:ext>
            </a:extLst>
          </p:cNvPr>
          <p:cNvSpPr txBox="1"/>
          <p:nvPr/>
        </p:nvSpPr>
        <p:spPr>
          <a:xfrm>
            <a:off x="114300" y="1006475"/>
            <a:ext cx="34671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Syntax analyzer uses the tokens produced by the lexical analyzer to depict the grammatical structure of the token stream.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Builds implicit syntax tree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Detects syntax errors</a:t>
            </a:r>
          </a:p>
        </p:txBody>
      </p:sp>
    </p:spTree>
    <p:extLst>
      <p:ext uri="{BB962C8B-B14F-4D97-AF65-F5344CB8AC3E}">
        <p14:creationId xmlns:p14="http://schemas.microsoft.com/office/powerpoint/2010/main" val="35723046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  <a:latin typeface="Candara" pitchFamily="34" charset="0"/>
              </a:rPr>
              <a:t>Compiler</a:t>
            </a:r>
          </a:p>
        </p:txBody>
      </p:sp>
      <p:pic>
        <p:nvPicPr>
          <p:cNvPr id="7" name="Content Placeholder 6" descr="Capture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57600" y="869950"/>
            <a:ext cx="5486400" cy="5486400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54B43-A32E-4E56-A79A-8A69A9FF5F4D}" type="datetime1">
              <a:rPr lang="en-US" smtClean="0"/>
              <a:t>11/29/2023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F9270-67FB-47A8-A906-F7A23D0DC9A5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9E964B-B7D5-4D7A-8462-60E853C43E76}"/>
              </a:ext>
            </a:extLst>
          </p:cNvPr>
          <p:cNvSpPr txBox="1"/>
          <p:nvPr/>
        </p:nvSpPr>
        <p:spPr>
          <a:xfrm>
            <a:off x="114299" y="914400"/>
            <a:ext cx="395384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semantic analyzer uses the syntax tree and the information in the symbol table to check the source program for semantic consistency with the language definition.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Check semantic errors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Type checking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Variable declared as void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Undeclared variable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Error in no./type of function argument during call</a:t>
            </a:r>
          </a:p>
        </p:txBody>
      </p:sp>
    </p:spTree>
    <p:extLst>
      <p:ext uri="{BB962C8B-B14F-4D97-AF65-F5344CB8AC3E}">
        <p14:creationId xmlns:p14="http://schemas.microsoft.com/office/powerpoint/2010/main" val="3635838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  <a:latin typeface="Candara" pitchFamily="34" charset="0"/>
              </a:rPr>
              <a:t>What will we do in this course?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ndara" pitchFamily="34" charset="0"/>
              </a:rPr>
              <a:t>Construct and manage </a:t>
            </a:r>
            <a:r>
              <a:rPr lang="en-US" dirty="0">
                <a:solidFill>
                  <a:srgbClr val="FF0000"/>
                </a:solidFill>
                <a:latin typeface="Candara" pitchFamily="34" charset="0"/>
              </a:rPr>
              <a:t>symbol table</a:t>
            </a:r>
          </a:p>
          <a:p>
            <a:r>
              <a:rPr lang="en-US" dirty="0">
                <a:latin typeface="Candara" pitchFamily="34" charset="0"/>
              </a:rPr>
              <a:t>Perform </a:t>
            </a:r>
            <a:r>
              <a:rPr lang="en-US" dirty="0">
                <a:solidFill>
                  <a:srgbClr val="FF0000"/>
                </a:solidFill>
                <a:latin typeface="Candara" pitchFamily="34" charset="0"/>
              </a:rPr>
              <a:t>lexical analysis</a:t>
            </a:r>
            <a:r>
              <a:rPr lang="en-US" dirty="0">
                <a:latin typeface="Candara" pitchFamily="34" charset="0"/>
              </a:rPr>
              <a:t> using flex</a:t>
            </a:r>
          </a:p>
          <a:p>
            <a:r>
              <a:rPr lang="en-US" dirty="0">
                <a:latin typeface="Candara" pitchFamily="34" charset="0"/>
              </a:rPr>
              <a:t>Perform </a:t>
            </a:r>
            <a:r>
              <a:rPr lang="en-US" dirty="0">
                <a:solidFill>
                  <a:srgbClr val="FF0000"/>
                </a:solidFill>
                <a:latin typeface="Candara" pitchFamily="34" charset="0"/>
              </a:rPr>
              <a:t>syntax analysis</a:t>
            </a:r>
            <a:r>
              <a:rPr lang="en-US" dirty="0">
                <a:latin typeface="Candara" pitchFamily="34" charset="0"/>
              </a:rPr>
              <a:t>, </a:t>
            </a:r>
            <a:r>
              <a:rPr lang="en-US" dirty="0">
                <a:solidFill>
                  <a:srgbClr val="FF0000"/>
                </a:solidFill>
                <a:latin typeface="Candara" pitchFamily="34" charset="0"/>
              </a:rPr>
              <a:t>semantic analysis </a:t>
            </a:r>
            <a:r>
              <a:rPr lang="en-US" dirty="0">
                <a:latin typeface="Candara" pitchFamily="34" charset="0"/>
              </a:rPr>
              <a:t>and </a:t>
            </a:r>
            <a:r>
              <a:rPr lang="en-US" dirty="0">
                <a:solidFill>
                  <a:srgbClr val="FF0000"/>
                </a:solidFill>
                <a:latin typeface="Candara" pitchFamily="34" charset="0"/>
              </a:rPr>
              <a:t>intermediate code generation</a:t>
            </a:r>
            <a:r>
              <a:rPr lang="en-US" dirty="0">
                <a:latin typeface="Candara" pitchFamily="34" charset="0"/>
              </a:rPr>
              <a:t> using bison</a:t>
            </a:r>
          </a:p>
          <a:p>
            <a:r>
              <a:rPr lang="en-US" dirty="0">
                <a:latin typeface="Candara" pitchFamily="34" charset="0"/>
              </a:rPr>
              <a:t>Some code </a:t>
            </a:r>
            <a:r>
              <a:rPr lang="en-US" dirty="0">
                <a:solidFill>
                  <a:srgbClr val="FF0000"/>
                </a:solidFill>
                <a:latin typeface="Candara" pitchFamily="34" charset="0"/>
              </a:rPr>
              <a:t>optimization</a:t>
            </a:r>
            <a:r>
              <a:rPr lang="en-US" dirty="0">
                <a:latin typeface="Candara" pitchFamily="34" charset="0"/>
              </a:rPr>
              <a:t> too.</a:t>
            </a:r>
          </a:p>
          <a:p>
            <a:r>
              <a:rPr lang="en-US" dirty="0">
                <a:latin typeface="Candara" pitchFamily="34" charset="0"/>
              </a:rPr>
              <a:t>So… We are going to build a </a:t>
            </a:r>
            <a:r>
              <a:rPr lang="en-US" dirty="0">
                <a:solidFill>
                  <a:srgbClr val="FF0000"/>
                </a:solidFill>
                <a:latin typeface="Candara" pitchFamily="34" charset="0"/>
              </a:rPr>
              <a:t>COMPILER</a:t>
            </a:r>
            <a:r>
              <a:rPr lang="en-US" dirty="0">
                <a:latin typeface="Candara" pitchFamily="34" charset="0"/>
              </a:rPr>
              <a:t>!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044E4-426D-4793-8579-D65ADF2B9902}" type="datetime1">
              <a:rPr lang="en-US" smtClean="0"/>
              <a:t>11/29/2023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F9270-67FB-47A8-A906-F7A23D0DC9A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  <a:latin typeface="Candara" pitchFamily="34" charset="0"/>
              </a:rPr>
              <a:t>Some Info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ndara" pitchFamily="34" charset="0"/>
              </a:rPr>
              <a:t>Linux platform</a:t>
            </a:r>
          </a:p>
          <a:p>
            <a:pPr>
              <a:buNone/>
            </a:pPr>
            <a:endParaRPr lang="en-US" dirty="0">
              <a:latin typeface="Candara" pitchFamily="34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andara" pitchFamily="34" charset="0"/>
              </a:rPr>
              <a:t>No plagiarism</a:t>
            </a:r>
          </a:p>
          <a:p>
            <a:endParaRPr lang="en-US" dirty="0">
              <a:latin typeface="Candara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7BF43-E3FD-4B75-B6D4-050A14B27342}" type="datetime1">
              <a:rPr lang="en-US" smtClean="0"/>
              <a:t>11/29/2023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F9270-67FB-47A8-A906-F7A23D0DC9A5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  <a:latin typeface="Candara" pitchFamily="34" charset="0"/>
              </a:rPr>
              <a:t>Symbol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latin typeface="Candara" pitchFamily="34" charset="0"/>
              </a:rPr>
              <a:t>A table storing information of occurrence of various entities in the source program </a:t>
            </a:r>
          </a:p>
          <a:p>
            <a:r>
              <a:rPr lang="en-US" dirty="0">
                <a:latin typeface="Candara" pitchFamily="34" charset="0"/>
              </a:rPr>
              <a:t>Function names, return type, no. parameters; variable name, type etc.</a:t>
            </a:r>
          </a:p>
          <a:p>
            <a:r>
              <a:rPr lang="en-US" dirty="0">
                <a:latin typeface="Candara" pitchFamily="34" charset="0"/>
              </a:rPr>
              <a:t>Information are:</a:t>
            </a:r>
          </a:p>
          <a:p>
            <a:pPr lvl="1"/>
            <a:r>
              <a:rPr lang="en-US" dirty="0">
                <a:latin typeface="Candara" pitchFamily="34" charset="0"/>
              </a:rPr>
              <a:t>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ndara" pitchFamily="34" charset="0"/>
              </a:rPr>
              <a:t>Symbol Name</a:t>
            </a:r>
          </a:p>
          <a:p>
            <a:pPr lvl="1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ndara" pitchFamily="34" charset="0"/>
              </a:rPr>
              <a:t> Type</a:t>
            </a:r>
          </a:p>
          <a:p>
            <a:pPr lvl="1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ndara" pitchFamily="34" charset="0"/>
              </a:rPr>
              <a:t> Scope</a:t>
            </a:r>
          </a:p>
          <a:p>
            <a:pPr lvl="1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ndara" pitchFamily="34" charset="0"/>
              </a:rPr>
              <a:t> Value</a:t>
            </a:r>
          </a:p>
          <a:p>
            <a:r>
              <a:rPr lang="en-US" dirty="0">
                <a:latin typeface="Candara" pitchFamily="34" charset="0"/>
              </a:rPr>
              <a:t>Used in almost all phases of a compiler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74766-9F54-4272-B2A0-A8697D339FA8}" type="datetime1">
              <a:rPr lang="en-US" smtClean="0"/>
              <a:t>11/29/2023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F9270-67FB-47A8-A906-F7A23D0DC9A5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2"/>
                </a:solidFill>
                <a:latin typeface="Candara" pitchFamily="34" charset="0"/>
              </a:rPr>
              <a:t>Offline 1: Symbol Table 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ndara" pitchFamily="34" charset="0"/>
              </a:rPr>
              <a:t>Implement a simple symbol table</a:t>
            </a:r>
          </a:p>
          <a:p>
            <a:r>
              <a:rPr lang="en-US" dirty="0">
                <a:latin typeface="Candara" pitchFamily="34" charset="0"/>
              </a:rPr>
              <a:t>Hash based (Chaining)</a:t>
            </a:r>
          </a:p>
          <a:p>
            <a:r>
              <a:rPr lang="en-US" dirty="0">
                <a:latin typeface="Candara" pitchFamily="34" charset="0"/>
              </a:rPr>
              <a:t>Each entry is a two </a:t>
            </a:r>
            <a:r>
              <a:rPr lang="en-US" dirty="0" err="1">
                <a:latin typeface="Candara" pitchFamily="34" charset="0"/>
              </a:rPr>
              <a:t>tuple</a:t>
            </a:r>
            <a:r>
              <a:rPr lang="en-US" dirty="0">
                <a:latin typeface="Candara" pitchFamily="34" charset="0"/>
              </a:rPr>
              <a:t> &lt;Symbol Name, Symbol Type&gt;</a:t>
            </a:r>
          </a:p>
          <a:p>
            <a:r>
              <a:rPr lang="en-US" dirty="0">
                <a:latin typeface="Candara" pitchFamily="34" charset="0"/>
              </a:rPr>
              <a:t>Use Symbol Name as key of hash table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3878D-BA1D-43A3-AB7A-0A237168317F}" type="datetime1">
              <a:rPr lang="en-US" smtClean="0"/>
              <a:t>11/29/2023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F9270-67FB-47A8-A906-F7A23D0DC9A5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2"/>
                </a:solidFill>
                <a:latin typeface="Candara" pitchFamily="34" charset="0"/>
              </a:rPr>
              <a:t>Offline 1: Symbol Table Management</a:t>
            </a:r>
            <a:endParaRPr lang="en-US" dirty="0"/>
          </a:p>
        </p:txBody>
      </p:sp>
      <p:pic>
        <p:nvPicPr>
          <p:cNvPr id="4" name="Content Placeholder 3" descr="symboltable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1676401"/>
            <a:ext cx="7543800" cy="4343399"/>
          </a:xfr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82921-99E0-4804-8F61-91586A3CF655}" type="datetime1">
              <a:rPr lang="en-US" smtClean="0"/>
              <a:t>11/29/2023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F9270-67FB-47A8-A906-F7A23D0DC9A5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  <a:latin typeface="Candara" pitchFamily="34" charset="0"/>
              </a:rPr>
              <a:t>How Symbol Table Helps?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82921-99E0-4804-8F61-91586A3CF655}" type="datetime1">
              <a:rPr lang="en-US" smtClean="0"/>
              <a:t>11/29/2023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F9270-67FB-47A8-A906-F7A23D0DC9A5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can this type of Symbol Table help?</a:t>
            </a:r>
          </a:p>
          <a:p>
            <a:pPr lvl="1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Detect undeclared variable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Type checking</a:t>
            </a:r>
          </a:p>
          <a:p>
            <a:pPr lvl="2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Add an extra field for each symbol named </a:t>
            </a:r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datatype</a:t>
            </a:r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  <a:p>
            <a:pPr lvl="2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During an assignment operation check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datatype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field of RHS and LHS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8268" y="2743200"/>
            <a:ext cx="1287532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main(){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int a;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a=1;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b=2;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10200" y="2819400"/>
            <a:ext cx="259064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Insert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a</a:t>
            </a:r>
            <a:r>
              <a:rPr lang="en-US" dirty="0"/>
              <a:t> into symbol table</a:t>
            </a:r>
          </a:p>
        </p:txBody>
      </p:sp>
      <p:cxnSp>
        <p:nvCxnSpPr>
          <p:cNvPr id="12" name="Straight Arrow Connector 11"/>
          <p:cNvCxnSpPr>
            <a:stCxn id="10" idx="1"/>
          </p:cNvCxnSpPr>
          <p:nvPr/>
        </p:nvCxnSpPr>
        <p:spPr>
          <a:xfrm rot="10800000" flipV="1">
            <a:off x="4419600" y="3004066"/>
            <a:ext cx="990600" cy="19633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10200" y="3288268"/>
            <a:ext cx="368466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Search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a</a:t>
            </a:r>
            <a:r>
              <a:rPr lang="en-US" dirty="0"/>
              <a:t> into symbol table. </a:t>
            </a:r>
            <a:r>
              <a:rPr lang="en-US" b="1" dirty="0">
                <a:solidFill>
                  <a:srgbClr val="008000"/>
                </a:solidFill>
              </a:rPr>
              <a:t>SUCCESS</a:t>
            </a:r>
            <a:r>
              <a:rPr lang="en-US" dirty="0"/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10200" y="3733800"/>
            <a:ext cx="362413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Search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b</a:t>
            </a:r>
            <a:r>
              <a:rPr lang="en-US" dirty="0"/>
              <a:t> into symbol table. </a:t>
            </a:r>
            <a:r>
              <a:rPr lang="en-US" b="1" dirty="0">
                <a:solidFill>
                  <a:srgbClr val="FF0000"/>
                </a:solidFill>
              </a:rPr>
              <a:t>FAILURE</a:t>
            </a:r>
            <a:r>
              <a:rPr lang="en-US" dirty="0"/>
              <a:t>!</a:t>
            </a:r>
          </a:p>
        </p:txBody>
      </p:sp>
      <p:cxnSp>
        <p:nvCxnSpPr>
          <p:cNvPr id="15" name="Straight Arrow Connector 14"/>
          <p:cNvCxnSpPr>
            <a:stCxn id="13" idx="1"/>
          </p:cNvCxnSpPr>
          <p:nvPr/>
        </p:nvCxnSpPr>
        <p:spPr>
          <a:xfrm rot="10800000">
            <a:off x="4267200" y="3429000"/>
            <a:ext cx="1143000" cy="4393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4" idx="1"/>
          </p:cNvCxnSpPr>
          <p:nvPr/>
        </p:nvCxnSpPr>
        <p:spPr>
          <a:xfrm rot="10800000">
            <a:off x="4267200" y="3733802"/>
            <a:ext cx="1143000" cy="18466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  <a:latin typeface="Candara" pitchFamily="34" charset="0"/>
              </a:rPr>
              <a:t>How Symbol Table Helps?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82921-99E0-4804-8F61-91586A3CF655}" type="datetime1">
              <a:rPr lang="en-US" smtClean="0"/>
              <a:t>11/29/2023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F9270-67FB-47A8-A906-F7A23D0DC9A5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can this type of Symbol Table help?</a:t>
            </a:r>
          </a:p>
          <a:p>
            <a:pPr lvl="1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Scope Management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2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Need to allow duplicate entry in symbol table</a:t>
            </a:r>
          </a:p>
          <a:p>
            <a:pPr lvl="2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Also delete some entries when a block exits</a:t>
            </a:r>
          </a:p>
          <a:p>
            <a:pPr lvl="2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How to accommodate this??</a:t>
            </a:r>
          </a:p>
          <a:p>
            <a:pPr lvl="1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124200" y="2693075"/>
            <a:ext cx="1976823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main(){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int a;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{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int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a,b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}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b=2;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2"/>
                </a:solidFill>
                <a:latin typeface="Candara" pitchFamily="34" charset="0"/>
              </a:rPr>
              <a:t>Symbol Table for Scope Management 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82921-99E0-4804-8F61-91586A3CF655}" type="datetime1">
              <a:rPr lang="en-US" smtClean="0"/>
              <a:t>11/29/2023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F9270-67FB-47A8-A906-F7A23D0DC9A5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List of Hash Tables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19400"/>
            <a:ext cx="1976823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main(){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int a;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{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int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a,b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}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b=2;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533400" y="3276600"/>
            <a:ext cx="533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533400" y="3579812"/>
            <a:ext cx="533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533400" y="3810000"/>
            <a:ext cx="533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533400" y="4114800"/>
            <a:ext cx="533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533400" y="4418012"/>
            <a:ext cx="533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886200" y="3581400"/>
            <a:ext cx="1600200" cy="12192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Hash Table#1</a:t>
            </a:r>
          </a:p>
          <a:p>
            <a:pPr algn="ctr"/>
            <a:endParaRPr lang="en-US" dirty="0"/>
          </a:p>
          <a:p>
            <a:pPr algn="ctr"/>
            <a:r>
              <a:rPr lang="en-US" dirty="0">
                <a:solidFill>
                  <a:schemeClr val="tx1"/>
                </a:solidFill>
              </a:rPr>
              <a:t>&lt;a, </a:t>
            </a:r>
            <a:r>
              <a:rPr lang="en-US" dirty="0" err="1">
                <a:solidFill>
                  <a:schemeClr val="tx1"/>
                </a:solidFill>
              </a:rPr>
              <a:t>var</a:t>
            </a:r>
            <a:r>
              <a:rPr lang="en-US" dirty="0">
                <a:solidFill>
                  <a:schemeClr val="tx1"/>
                </a:solidFill>
              </a:rPr>
              <a:t>&gt;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8400" y="3581400"/>
            <a:ext cx="1600200" cy="12192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Hash Table#2</a:t>
            </a:r>
          </a:p>
          <a:p>
            <a:pPr algn="ctr"/>
            <a:endParaRPr lang="en-US" dirty="0"/>
          </a:p>
          <a:p>
            <a:pPr algn="ctr"/>
            <a:r>
              <a:rPr lang="en-US" dirty="0">
                <a:solidFill>
                  <a:schemeClr val="tx1"/>
                </a:solidFill>
              </a:rPr>
              <a:t>&lt;a, </a:t>
            </a:r>
            <a:r>
              <a:rPr lang="en-US" dirty="0" err="1">
                <a:solidFill>
                  <a:schemeClr val="tx1"/>
                </a:solidFill>
              </a:rPr>
              <a:t>var</a:t>
            </a:r>
            <a:r>
              <a:rPr lang="en-US" dirty="0">
                <a:solidFill>
                  <a:schemeClr val="tx1"/>
                </a:solidFill>
              </a:rPr>
              <a:t>&gt;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&lt;b, </a:t>
            </a:r>
            <a:r>
              <a:rPr lang="en-US" dirty="0" err="1">
                <a:solidFill>
                  <a:schemeClr val="tx1"/>
                </a:solidFill>
              </a:rPr>
              <a:t>var</a:t>
            </a:r>
            <a:r>
              <a:rPr lang="en-US" dirty="0">
                <a:solidFill>
                  <a:schemeClr val="tx1"/>
                </a:solidFill>
              </a:rPr>
              <a:t>&gt;</a:t>
            </a:r>
          </a:p>
        </p:txBody>
      </p:sp>
      <p:cxnSp>
        <p:nvCxnSpPr>
          <p:cNvPr id="20" name="Straight Arrow Connector 19"/>
          <p:cNvCxnSpPr>
            <a:stCxn id="18" idx="1"/>
            <a:endCxn id="17" idx="3"/>
          </p:cNvCxnSpPr>
          <p:nvPr/>
        </p:nvCxnSpPr>
        <p:spPr>
          <a:xfrm rot="10800000">
            <a:off x="5486400" y="4191000"/>
            <a:ext cx="76200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53656" y="4334470"/>
            <a:ext cx="87094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Parent </a:t>
            </a:r>
          </a:p>
          <a:p>
            <a:r>
              <a:rPr lang="en-US" dirty="0"/>
              <a:t>pointer</a:t>
            </a:r>
          </a:p>
          <a:p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3973485" y="2831068"/>
            <a:ext cx="1512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Current Scope</a:t>
            </a:r>
          </a:p>
        </p:txBody>
      </p:sp>
      <p:cxnSp>
        <p:nvCxnSpPr>
          <p:cNvPr id="24" name="Straight Arrow Connector 23"/>
          <p:cNvCxnSpPr>
            <a:stCxn id="22" idx="2"/>
            <a:endCxn id="17" idx="0"/>
          </p:cNvCxnSpPr>
          <p:nvPr/>
        </p:nvCxnSpPr>
        <p:spPr>
          <a:xfrm rot="5400000">
            <a:off x="4517622" y="3369079"/>
            <a:ext cx="381000" cy="4364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335685" y="2754868"/>
            <a:ext cx="1512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Current Scope</a:t>
            </a:r>
          </a:p>
        </p:txBody>
      </p:sp>
      <p:cxnSp>
        <p:nvCxnSpPr>
          <p:cNvPr id="26" name="Straight Arrow Connector 25"/>
          <p:cNvCxnSpPr>
            <a:stCxn id="25" idx="2"/>
            <a:endCxn id="18" idx="0"/>
          </p:cNvCxnSpPr>
          <p:nvPr/>
        </p:nvCxnSpPr>
        <p:spPr>
          <a:xfrm rot="5400000">
            <a:off x="6841722" y="3330979"/>
            <a:ext cx="457200" cy="4364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86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89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92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95" dur="500"/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9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0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0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uiExpand="1" build="allAtOnce" animBg="1"/>
      <p:bldP spid="18" grpId="1" build="allAtOnce" animBg="1"/>
      <p:bldP spid="21" grpId="0"/>
      <p:bldP spid="21" grpId="1"/>
      <p:bldP spid="22" grpId="0"/>
      <p:bldP spid="22" grpId="1"/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2"/>
                </a:solidFill>
                <a:latin typeface="Candara" pitchFamily="34" charset="0"/>
              </a:rPr>
              <a:t>Offline 1: Symbol Table Management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/>
          <a:lstStyle/>
          <a:p>
            <a:r>
              <a:rPr lang="en-US" dirty="0">
                <a:latin typeface="Candara" pitchFamily="34" charset="0"/>
              </a:rPr>
              <a:t>Three Classes</a:t>
            </a:r>
          </a:p>
          <a:p>
            <a:pPr marL="971550" lvl="1" indent="-514350">
              <a:buNone/>
            </a:pPr>
            <a:r>
              <a:rPr lang="en-US" dirty="0">
                <a:latin typeface="Candara" pitchFamily="34" charset="0"/>
              </a:rPr>
              <a:t>1. </a:t>
            </a:r>
            <a:r>
              <a:rPr lang="en-US" dirty="0" err="1">
                <a:latin typeface="Candara" pitchFamily="34" charset="0"/>
              </a:rPr>
              <a:t>SymbolInfo</a:t>
            </a:r>
            <a:endParaRPr lang="en-US" dirty="0">
              <a:latin typeface="Candara" pitchFamily="34" charset="0"/>
            </a:endParaRPr>
          </a:p>
          <a:p>
            <a:pPr lvl="2"/>
            <a:r>
              <a:rPr lang="en-US" dirty="0">
                <a:latin typeface="Candara" pitchFamily="34" charset="0"/>
              </a:rPr>
              <a:t>Each entry of symbol table is an instance of </a:t>
            </a:r>
            <a:r>
              <a:rPr lang="en-US" dirty="0" err="1">
                <a:latin typeface="Candara" pitchFamily="34" charset="0"/>
              </a:rPr>
              <a:t>SymbolInfo</a:t>
            </a:r>
            <a:r>
              <a:rPr lang="en-US" dirty="0">
                <a:latin typeface="Candara" pitchFamily="34" charset="0"/>
              </a:rPr>
              <a:t>.( Remember two </a:t>
            </a:r>
            <a:r>
              <a:rPr lang="en-US" dirty="0" err="1">
                <a:latin typeface="Candara" pitchFamily="34" charset="0"/>
              </a:rPr>
              <a:t>tuples</a:t>
            </a:r>
            <a:r>
              <a:rPr lang="en-US" dirty="0">
                <a:latin typeface="Candara" pitchFamily="34" charset="0"/>
              </a:rPr>
              <a:t>!)</a:t>
            </a:r>
          </a:p>
          <a:p>
            <a:pPr lvl="4">
              <a:buNone/>
            </a:pPr>
            <a:endParaRPr lang="en-US" dirty="0">
              <a:latin typeface="Candara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0C846-733F-4BA3-A3AF-581B93256546}" type="datetime1">
              <a:rPr lang="en-US" smtClean="0"/>
              <a:t>11/29/2023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F9270-67FB-47A8-A906-F7A23D0DC9A5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2"/>
                </a:solidFill>
                <a:latin typeface="Candara" pitchFamily="34" charset="0"/>
              </a:rPr>
              <a:t>Offline 1: Symbol Table Management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/>
          <a:lstStyle/>
          <a:p>
            <a:r>
              <a:rPr lang="en-US" dirty="0">
                <a:latin typeface="Candara" pitchFamily="34" charset="0"/>
              </a:rPr>
              <a:t>Three Classes</a:t>
            </a:r>
          </a:p>
          <a:p>
            <a:pPr marL="971550" lvl="1" indent="-514350">
              <a:buNone/>
            </a:pPr>
            <a:r>
              <a:rPr lang="en-US" dirty="0">
                <a:latin typeface="Candara" pitchFamily="34" charset="0"/>
              </a:rPr>
              <a:t>2.  </a:t>
            </a:r>
            <a:r>
              <a:rPr lang="en-US" dirty="0" err="1">
                <a:latin typeface="Candara" pitchFamily="34" charset="0"/>
              </a:rPr>
              <a:t>ScopeTable</a:t>
            </a:r>
            <a:endParaRPr lang="en-US" dirty="0">
              <a:latin typeface="Candara" pitchFamily="34" charset="0"/>
            </a:endParaRPr>
          </a:p>
          <a:p>
            <a:pPr lvl="2"/>
            <a:r>
              <a:rPr lang="en-US" sz="2000" dirty="0">
                <a:latin typeface="Candara" pitchFamily="34" charset="0"/>
              </a:rPr>
              <a:t>This class is the implementation of a hash table. </a:t>
            </a:r>
          </a:p>
          <a:p>
            <a:pPr lvl="2"/>
            <a:r>
              <a:rPr lang="en-US" sz="2000" dirty="0">
                <a:latin typeface="Candara" pitchFamily="34" charset="0"/>
              </a:rPr>
              <a:t>Represents each scope 	</a:t>
            </a:r>
          </a:p>
          <a:p>
            <a:pPr lvl="2"/>
            <a:r>
              <a:rPr lang="en-US" sz="2000" dirty="0">
                <a:latin typeface="Candara" pitchFamily="34" charset="0"/>
              </a:rPr>
              <a:t>Implement four operations</a:t>
            </a:r>
          </a:p>
          <a:p>
            <a:pPr lvl="4"/>
            <a:r>
              <a:rPr lang="en-US" dirty="0">
                <a:latin typeface="Candara" pitchFamily="34" charset="0"/>
              </a:rPr>
              <a:t>Insert</a:t>
            </a:r>
          </a:p>
          <a:p>
            <a:pPr lvl="4"/>
            <a:r>
              <a:rPr lang="en-US" dirty="0">
                <a:latin typeface="Candara" pitchFamily="34" charset="0"/>
              </a:rPr>
              <a:t>Lookup</a:t>
            </a:r>
          </a:p>
          <a:p>
            <a:pPr lvl="4"/>
            <a:r>
              <a:rPr lang="en-US" dirty="0">
                <a:latin typeface="Candara" pitchFamily="34" charset="0"/>
              </a:rPr>
              <a:t>Delete</a:t>
            </a:r>
          </a:p>
          <a:p>
            <a:pPr lvl="4"/>
            <a:r>
              <a:rPr lang="en-US" dirty="0">
                <a:latin typeface="Candara" pitchFamily="34" charset="0"/>
              </a:rPr>
              <a:t>Print</a:t>
            </a:r>
          </a:p>
          <a:p>
            <a:pPr lvl="4"/>
            <a:endParaRPr lang="en-US" dirty="0">
              <a:latin typeface="Candara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0C846-733F-4BA3-A3AF-581B93256546}" type="datetime1">
              <a:rPr lang="en-US" smtClean="0"/>
              <a:t>11/29/2023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F9270-67FB-47A8-A906-F7A23D0DC9A5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2"/>
                </a:solidFill>
                <a:latin typeface="Candara" pitchFamily="34" charset="0"/>
              </a:rPr>
              <a:t>Offline 1: Symbol Table Management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/>
          <a:lstStyle/>
          <a:p>
            <a:r>
              <a:rPr lang="en-US" dirty="0">
                <a:latin typeface="Candara" pitchFamily="34" charset="0"/>
              </a:rPr>
              <a:t>Three Classes</a:t>
            </a:r>
          </a:p>
          <a:p>
            <a:pPr marL="971550" lvl="1" indent="-514350">
              <a:buNone/>
            </a:pPr>
            <a:r>
              <a:rPr lang="en-US" dirty="0">
                <a:latin typeface="Candara" pitchFamily="34" charset="0"/>
              </a:rPr>
              <a:t>3.  </a:t>
            </a:r>
            <a:r>
              <a:rPr lang="en-US" dirty="0" err="1">
                <a:latin typeface="Candara" pitchFamily="34" charset="0"/>
              </a:rPr>
              <a:t>SymbolTable</a:t>
            </a:r>
            <a:endParaRPr lang="en-US" dirty="0">
              <a:latin typeface="Candara" pitchFamily="34" charset="0"/>
            </a:endParaRPr>
          </a:p>
          <a:p>
            <a:pPr lvl="2"/>
            <a:r>
              <a:rPr lang="en-US" sz="2000" dirty="0">
                <a:latin typeface="Candara" pitchFamily="34" charset="0"/>
              </a:rPr>
              <a:t>Maintain a list of </a:t>
            </a:r>
            <a:r>
              <a:rPr lang="en-US" sz="2000" dirty="0" err="1">
                <a:latin typeface="Candara" pitchFamily="34" charset="0"/>
              </a:rPr>
              <a:t>ScopeTables</a:t>
            </a:r>
            <a:r>
              <a:rPr lang="en-US" sz="2000" dirty="0">
                <a:latin typeface="Candara" pitchFamily="34" charset="0"/>
              </a:rPr>
              <a:t>	</a:t>
            </a:r>
          </a:p>
          <a:p>
            <a:pPr lvl="2"/>
            <a:r>
              <a:rPr lang="en-US" sz="2000" dirty="0">
                <a:latin typeface="Candara" pitchFamily="34" charset="0"/>
              </a:rPr>
              <a:t>Implement four operations</a:t>
            </a:r>
          </a:p>
          <a:p>
            <a:pPr lvl="4"/>
            <a:r>
              <a:rPr lang="en-US" dirty="0">
                <a:latin typeface="Candara" pitchFamily="34" charset="0"/>
              </a:rPr>
              <a:t>Enter Scope</a:t>
            </a:r>
          </a:p>
          <a:p>
            <a:pPr lvl="4"/>
            <a:r>
              <a:rPr lang="en-US" dirty="0">
                <a:latin typeface="Candara" pitchFamily="34" charset="0"/>
              </a:rPr>
              <a:t>Exit Scope</a:t>
            </a:r>
          </a:p>
          <a:p>
            <a:pPr lvl="4"/>
            <a:r>
              <a:rPr lang="en-US" dirty="0">
                <a:latin typeface="Candara" pitchFamily="34" charset="0"/>
              </a:rPr>
              <a:t>Insert</a:t>
            </a:r>
          </a:p>
          <a:p>
            <a:pPr lvl="4"/>
            <a:r>
              <a:rPr lang="en-US" dirty="0">
                <a:latin typeface="Candara" pitchFamily="34" charset="0"/>
              </a:rPr>
              <a:t>Delete</a:t>
            </a:r>
          </a:p>
          <a:p>
            <a:pPr lvl="4"/>
            <a:r>
              <a:rPr lang="en-US" dirty="0">
                <a:latin typeface="Candara" pitchFamily="34" charset="0"/>
              </a:rPr>
              <a:t>Print All Tables</a:t>
            </a:r>
          </a:p>
          <a:p>
            <a:pPr lvl="4"/>
            <a:r>
              <a:rPr lang="en-US" dirty="0">
                <a:latin typeface="Candara" pitchFamily="34" charset="0"/>
              </a:rPr>
              <a:t>Print Current Table</a:t>
            </a:r>
          </a:p>
          <a:p>
            <a:pPr lvl="4"/>
            <a:endParaRPr lang="en-US" dirty="0">
              <a:latin typeface="Candara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0C846-733F-4BA3-A3AF-581B93256546}" type="datetime1">
              <a:rPr lang="en-US" smtClean="0"/>
              <a:t>11/29/2023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F9270-67FB-47A8-A906-F7A23D0DC9A5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542</TotalTime>
  <Words>724</Words>
  <Application>Microsoft Office PowerPoint</Application>
  <PresentationFormat>On-screen Show (4:3)</PresentationFormat>
  <Paragraphs>190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Candara</vt:lpstr>
      <vt:lpstr>Courier New</vt:lpstr>
      <vt:lpstr>Office Theme</vt:lpstr>
      <vt:lpstr>Welcome to Level - 3</vt:lpstr>
      <vt:lpstr>Good Practices</vt:lpstr>
      <vt:lpstr>Must Avoid</vt:lpstr>
      <vt:lpstr>Welcome to  CSE 310</vt:lpstr>
      <vt:lpstr>Compiler</vt:lpstr>
      <vt:lpstr>Compiler</vt:lpstr>
      <vt:lpstr>Compiler</vt:lpstr>
      <vt:lpstr>Compiler</vt:lpstr>
      <vt:lpstr>Compiler</vt:lpstr>
      <vt:lpstr>What will we do in this course?</vt:lpstr>
      <vt:lpstr>Some Info</vt:lpstr>
      <vt:lpstr>Symbol Table</vt:lpstr>
      <vt:lpstr>Offline 1: Symbol Table Management</vt:lpstr>
      <vt:lpstr>Offline 1: Symbol Table Management</vt:lpstr>
      <vt:lpstr>How Symbol Table Helps?</vt:lpstr>
      <vt:lpstr>How Symbol Table Helps?</vt:lpstr>
      <vt:lpstr>Symbol Table for Scope Management </vt:lpstr>
      <vt:lpstr>Offline 1: Symbol Table Management</vt:lpstr>
      <vt:lpstr>Offline 1: Symbol Table Management</vt:lpstr>
      <vt:lpstr>Offline 1: Symbol Table Management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TAMAL</dc:creator>
  <cp:lastModifiedBy>2005076 - S. M. Kausar Parvej</cp:lastModifiedBy>
  <cp:revision>51</cp:revision>
  <dcterms:created xsi:type="dcterms:W3CDTF">2016-08-27T16:48:28Z</dcterms:created>
  <dcterms:modified xsi:type="dcterms:W3CDTF">2023-11-29T07:52:09Z</dcterms:modified>
</cp:coreProperties>
</file>