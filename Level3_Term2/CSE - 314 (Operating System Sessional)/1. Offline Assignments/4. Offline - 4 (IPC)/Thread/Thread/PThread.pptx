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20" autoAdjust="0"/>
    <p:restoredTop sz="96150" autoAdjust="0"/>
  </p:normalViewPr>
  <p:slideViewPr>
    <p:cSldViewPr snapToGrid="0">
      <p:cViewPr varScale="1">
        <p:scale>
          <a:sx n="106" d="100"/>
          <a:sy n="106" d="100"/>
        </p:scale>
        <p:origin x="12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26:35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24575,'3844'0'-6699,"3"0"3760,0 0 4478,0 0 5195,-3823 0-13560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29:58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25 24575,'2861'0'-3879,"1434"0"6195,-571 0-753,-3376-10-1563,-61 0 0,1674 6-493,-1061 6 342,3001-2-570,-3868 0-6105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30:00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24575,'2218'0'-4647,"1"0"3723,4434 0 6495,-6566-3-6936,-62-2-5461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31:08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24575,'7138'0'-1365,"-7120"0"-5461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34:3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24575,'5473'0'-1365,"-5448"0"-5461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34:36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24575,'6242'0'-1365,"-6226"0"-5461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35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24575,'0'1'0,"1"0"0,-1 0 0,1 0 0,0-1 0,-1 1 0,1 0 0,0 0 0,0-1 0,0 1 0,-1-1 0,1 1 0,0 0 0,0-1 0,0 0 0,0 1 0,0-1 0,0 1 0,0-1 0,0 0 0,0 0 0,0 0 0,0 0 0,0 1 0,0-1 0,0 0 0,0-1 0,0 1 0,2 0 0,4 0 0,354 9 0,-232-10 0,2314 5-5485,1234-6 4415,-533 0 1537,-1372 2-556,1082 0 5679,-952 0-6368,-1872 0-6048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38:08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1 389 24575,'11'12'0,"0"1"0,-1 0 0,0 0 0,-1 1 0,-1 0 0,0 1 0,-1 0 0,0 0 0,-1 0 0,6 26 0,-7-32 0,1-12 0,6-19 0,-9 16 0,7-15 0,35-74 0,103-161 0,-22 96-1365,-113 146-5461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38:12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1 476 24575,'9'9'0,"-1"2"0,0-1 0,0 1 0,-1 0 0,-1 1 0,0-1 0,0 1 0,-1 1 0,-1-1 0,0 1 0,2 13 0,-5-24 0,-1-1 0,0 1 0,1-1 0,-1 1 0,1-1 0,0 1 0,-1-1 0,1 1 0,0-1 0,0 1 0,0-1 0,1 2 0,-2-3 0,1 0 0,-1 0 0,0 0 0,0 0 0,1 0 0,-1 0 0,0 0 0,1 0 0,-1 0 0,0 0 0,1 0 0,-1 0 0,0 0 0,1 0 0,-1 0 0,0 0 0,1 0 0,-1 0 0,0 0 0,0 0 0,1 0 0,-1 0 0,0-1 0,1 1 0,-1 0 0,0 0 0,0 0 0,1-1 0,-1 1 0,0 0 0,0 0 0,0-1 0,1 1 0,-1 0 0,0-1 0,20-40 0,-19 36 0,38-85 0,3 2 0,4 2 0,4 2 0,77-99 0,-95 144-1365,-7 12-5461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41:46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24575,'1367'0'-1996,"-206"0"37,368 0 1221,-507 0 4066,-1004 0-10154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04:41:58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24575,'4114'0'-4511,"-4059"0"831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</a:lstStyle>
          <a:p>
            <a:r>
              <a:t>Click to edit Master subtitle style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</a:lstStyle>
          <a:p>
            <a:r>
              <a:t>Click to edit Master text styles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r>
              <a:t>Click to edit Master text styles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sz="quarter" idx="1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sz="half" idx="13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83" name="Shape 83"/>
          <p:cNvSpPr>
            <a:spLocks noGrp="1"/>
          </p:cNvSpPr>
          <p:nvPr>
            <p:ph type="pic" sz="half" idx="13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r>
              <a:t>Click to edit Master text styles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6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Thread</a:t>
            </a:r>
          </a:p>
        </p:txBody>
      </p:sp>
      <p:sp>
        <p:nvSpPr>
          <p:cNvPr id="113" name="Shape 11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900"/>
            </a:pPr>
            <a:r>
              <a:rPr dirty="0"/>
              <a:t>A thread is </a:t>
            </a:r>
            <a:r>
              <a:rPr dirty="0">
                <a:highlight>
                  <a:srgbClr val="FFFF00"/>
                </a:highlight>
              </a:rPr>
              <a:t>a sequence of related instructions </a:t>
            </a:r>
            <a:r>
              <a:rPr dirty="0">
                <a:highlight>
                  <a:srgbClr val="00FFFF"/>
                </a:highlight>
              </a:rPr>
              <a:t>executed independently of other instruction sequences.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900"/>
            </a:pPr>
            <a:r>
              <a:rPr dirty="0"/>
              <a:t>A thread can create another threads.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900"/>
            </a:pPr>
            <a:r>
              <a:rPr dirty="0"/>
              <a:t>Each thread maintains its current state of execution.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900"/>
            </a:pPr>
            <a:r>
              <a:rPr dirty="0"/>
              <a:t>Three types of thread</a:t>
            </a:r>
          </a:p>
          <a:p>
            <a:pPr marL="742950" lvl="1" indent="-285750">
              <a:lnSpc>
                <a:spcPct val="80000"/>
              </a:lnSpc>
              <a:spcBef>
                <a:spcPts val="600"/>
              </a:spcBef>
              <a:buFont typeface="Wingdings"/>
              <a:buChar char="▪"/>
              <a:defRPr sz="2500"/>
            </a:pPr>
            <a:r>
              <a:rPr dirty="0"/>
              <a:t>User level</a:t>
            </a:r>
          </a:p>
          <a:p>
            <a:pPr marL="742950" lvl="1" indent="-285750">
              <a:lnSpc>
                <a:spcPct val="80000"/>
              </a:lnSpc>
              <a:spcBef>
                <a:spcPts val="600"/>
              </a:spcBef>
              <a:buFont typeface="Wingdings"/>
              <a:buChar char="▪"/>
              <a:defRPr sz="2500"/>
            </a:pPr>
            <a:r>
              <a:rPr dirty="0"/>
              <a:t>Kernel level</a:t>
            </a:r>
          </a:p>
          <a:p>
            <a:pPr marL="742950" lvl="1" indent="-285750">
              <a:lnSpc>
                <a:spcPct val="80000"/>
              </a:lnSpc>
              <a:spcBef>
                <a:spcPts val="600"/>
              </a:spcBef>
              <a:buFont typeface="Wingdings"/>
              <a:buChar char="▪"/>
              <a:defRPr sz="2500"/>
            </a:pPr>
            <a:r>
              <a:rPr dirty="0"/>
              <a:t>Hardware level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</a:t>
            </a:r>
          </a:p>
        </p:txBody>
      </p:sp>
      <p:sp>
        <p:nvSpPr>
          <p:cNvPr id="116" name="Shape 11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Font typeface="Wingdings"/>
              <a:buChar char="➢"/>
            </a:pPr>
            <a:r>
              <a:t> Threads share same </a:t>
            </a:r>
            <a:r>
              <a:rPr>
                <a:solidFill>
                  <a:srgbClr val="00B050"/>
                </a:solidFill>
              </a:rPr>
              <a:t>address space </a:t>
            </a:r>
            <a:r>
              <a:t>but have their own </a:t>
            </a:r>
            <a:r>
              <a:rPr>
                <a:solidFill>
                  <a:srgbClr val="00B050"/>
                </a:solidFill>
              </a:rPr>
              <a:t>private</a:t>
            </a:r>
            <a:r>
              <a:t> stacks.</a:t>
            </a:r>
          </a:p>
          <a:p>
            <a:pPr>
              <a:buFont typeface="Wingdings"/>
              <a:buChar char="➢"/>
            </a:pPr>
            <a:r>
              <a:t> Thread states: ready, running, waiting (blocked), or terminated.</a:t>
            </a:r>
          </a:p>
        </p:txBody>
      </p:sp>
      <p:grpSp>
        <p:nvGrpSpPr>
          <p:cNvPr id="119" name="Group 119"/>
          <p:cNvGrpSpPr/>
          <p:nvPr/>
        </p:nvGrpSpPr>
        <p:grpSpPr>
          <a:xfrm>
            <a:off x="2362200" y="4724400"/>
            <a:ext cx="1524000" cy="914400"/>
            <a:chOff x="0" y="0"/>
            <a:chExt cx="1524000" cy="914400"/>
          </a:xfrm>
        </p:grpSpPr>
        <p:sp>
          <p:nvSpPr>
            <p:cNvPr id="117" name="Shape 117"/>
            <p:cNvSpPr/>
            <p:nvPr/>
          </p:nvSpPr>
          <p:spPr>
            <a:xfrm>
              <a:off x="0" y="0"/>
              <a:ext cx="1524000" cy="914400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>
              <a:off x="0" y="278130"/>
              <a:ext cx="1524000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Thread 1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4876800" y="5410200"/>
            <a:ext cx="1524000" cy="914400"/>
            <a:chOff x="0" y="0"/>
            <a:chExt cx="1524000" cy="914400"/>
          </a:xfrm>
        </p:grpSpPr>
        <p:sp>
          <p:nvSpPr>
            <p:cNvPr id="120" name="Shape 120"/>
            <p:cNvSpPr/>
            <p:nvPr/>
          </p:nvSpPr>
          <p:spPr>
            <a:xfrm>
              <a:off x="0" y="0"/>
              <a:ext cx="1524000" cy="914400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>
              <a:off x="0" y="278130"/>
              <a:ext cx="1524000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Thread 3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4876800" y="4038600"/>
            <a:ext cx="1524000" cy="914400"/>
            <a:chOff x="0" y="0"/>
            <a:chExt cx="1524000" cy="914400"/>
          </a:xfrm>
        </p:grpSpPr>
        <p:sp>
          <p:nvSpPr>
            <p:cNvPr id="123" name="Shape 123"/>
            <p:cNvSpPr/>
            <p:nvPr/>
          </p:nvSpPr>
          <p:spPr>
            <a:xfrm>
              <a:off x="0" y="0"/>
              <a:ext cx="1524000" cy="914400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>
              <a:off x="0" y="278130"/>
              <a:ext cx="1524000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Thread 2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7162800" y="5410200"/>
            <a:ext cx="1524000" cy="914400"/>
            <a:chOff x="0" y="0"/>
            <a:chExt cx="1524000" cy="914400"/>
          </a:xfrm>
        </p:grpSpPr>
        <p:sp>
          <p:nvSpPr>
            <p:cNvPr id="126" name="Shape 126"/>
            <p:cNvSpPr/>
            <p:nvPr/>
          </p:nvSpPr>
          <p:spPr>
            <a:xfrm>
              <a:off x="0" y="0"/>
              <a:ext cx="1524000" cy="914400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7" name="Shape 127"/>
            <p:cNvSpPr/>
            <p:nvPr/>
          </p:nvSpPr>
          <p:spPr>
            <a:xfrm>
              <a:off x="0" y="278130"/>
              <a:ext cx="1524000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Thread 4</a:t>
              </a:r>
            </a:p>
          </p:txBody>
        </p:sp>
      </p:grpSp>
      <p:sp>
        <p:nvSpPr>
          <p:cNvPr id="138" name="Shape 138"/>
          <p:cNvSpPr/>
          <p:nvPr/>
        </p:nvSpPr>
        <p:spPr>
          <a:xfrm>
            <a:off x="3898899" y="4707081"/>
            <a:ext cx="965201" cy="2632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>
            <a:solidFill>
              <a:srgbClr val="4A7EBB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3898900" y="5392881"/>
            <a:ext cx="965201" cy="2632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>
            <a:solidFill>
              <a:srgbClr val="4A7EBB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0" name="Shape 140"/>
          <p:cNvSpPr/>
          <p:nvPr/>
        </p:nvSpPr>
        <p:spPr>
          <a:xfrm>
            <a:off x="6413500" y="5867400"/>
            <a:ext cx="736600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>
            <a:solidFill>
              <a:srgbClr val="4A7EBB"/>
            </a:solidFill>
            <a:tailEnd type="triangle"/>
          </a:ln>
        </p:spPr>
        <p:txBody>
          <a:bodyPr/>
          <a:lstStyle/>
          <a:p>
            <a:endParaRPr/>
          </a:p>
        </p:txBody>
      </p:sp>
      <p:grpSp>
        <p:nvGrpSpPr>
          <p:cNvPr id="134" name="Group 134"/>
          <p:cNvGrpSpPr/>
          <p:nvPr/>
        </p:nvGrpSpPr>
        <p:grpSpPr>
          <a:xfrm>
            <a:off x="228600" y="4724400"/>
            <a:ext cx="1524000" cy="914400"/>
            <a:chOff x="0" y="0"/>
            <a:chExt cx="1524000" cy="914400"/>
          </a:xfrm>
        </p:grpSpPr>
        <p:sp>
          <p:nvSpPr>
            <p:cNvPr id="132" name="Shape 132"/>
            <p:cNvSpPr/>
            <p:nvPr/>
          </p:nvSpPr>
          <p:spPr>
            <a:xfrm>
              <a:off x="0" y="0"/>
              <a:ext cx="1524000" cy="914400"/>
            </a:xfrm>
            <a:prstGeom prst="rect">
              <a:avLst/>
            </a:prstGeom>
            <a:solidFill>
              <a:schemeClr val="accent1"/>
            </a:solidFill>
            <a:ln w="25400" cap="flat">
              <a:solidFill>
                <a:srgbClr val="3A5E8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0" y="278130"/>
              <a:ext cx="1524000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Thread 0</a:t>
              </a:r>
            </a:p>
          </p:txBody>
        </p:sp>
      </p:grpSp>
      <p:sp>
        <p:nvSpPr>
          <p:cNvPr id="141" name="Shape 141"/>
          <p:cNvSpPr/>
          <p:nvPr/>
        </p:nvSpPr>
        <p:spPr>
          <a:xfrm>
            <a:off x="1765299" y="5181600"/>
            <a:ext cx="584202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ln>
            <a:solidFill>
              <a:srgbClr val="4A7EBB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304800" y="6553200"/>
            <a:ext cx="8610601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Shape 137"/>
          <p:cNvSpPr/>
          <p:nvPr/>
        </p:nvSpPr>
        <p:spPr>
          <a:xfrm>
            <a:off x="1905000" y="6172199"/>
            <a:ext cx="76200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r>
              <a:t>time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POSIX Thread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(Pthread)</a:t>
            </a:r>
          </a:p>
        </p:txBody>
      </p:sp>
      <p:sp>
        <p:nvSpPr>
          <p:cNvPr id="144" name="Shape 14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22325" indent="-322325" defTabSz="859536">
              <a:buFont typeface="Wingdings"/>
              <a:buChar char="➢"/>
              <a:defRPr sz="3008"/>
            </a:pPr>
            <a:r>
              <a:rPr dirty="0">
                <a:highlight>
                  <a:srgbClr val="00FFFF"/>
                </a:highlight>
              </a:rPr>
              <a:t>Low-level threading libraries</a:t>
            </a:r>
          </a:p>
          <a:p>
            <a:pPr marL="322325" indent="-322325" defTabSz="859536">
              <a:buFont typeface="Wingdings"/>
              <a:buChar char="➢"/>
              <a:defRPr sz="3008"/>
            </a:pPr>
            <a:r>
              <a:rPr dirty="0"/>
              <a:t>Native threading interface for Linux</a:t>
            </a:r>
          </a:p>
          <a:p>
            <a:pPr marL="322325" indent="-322325" defTabSz="859536">
              <a:buFont typeface="Wingdings"/>
              <a:buChar char="➢"/>
              <a:defRPr sz="3008"/>
            </a:pPr>
            <a:r>
              <a:rPr dirty="0"/>
              <a:t>C language programming types and procedure calls implemented with a </a:t>
            </a:r>
            <a:r>
              <a:rPr dirty="0">
                <a:solidFill>
                  <a:srgbClr val="00B0F0"/>
                </a:solidFill>
              </a:rPr>
              <a:t>pthread.h</a:t>
            </a:r>
            <a:r>
              <a:rPr dirty="0"/>
              <a:t> header.</a:t>
            </a:r>
          </a:p>
          <a:p>
            <a:pPr marL="322325" indent="-322325" defTabSz="859536">
              <a:buFont typeface="Wingdings"/>
              <a:buChar char="➢"/>
              <a:defRPr sz="3008"/>
            </a:pPr>
            <a:r>
              <a:rPr dirty="0"/>
              <a:t>It assumes shared memory.</a:t>
            </a:r>
          </a:p>
          <a:p>
            <a:pPr marL="322325" indent="-322325" defTabSz="859536">
              <a:buFont typeface="Wingdings"/>
              <a:buChar char="➢"/>
              <a:defRPr sz="3008"/>
            </a:pPr>
            <a:r>
              <a:rPr dirty="0"/>
              <a:t>To compile with GNU compiler:</a:t>
            </a:r>
          </a:p>
          <a:p>
            <a:pPr marL="698373" lvl="1" indent="-268604" defTabSz="859536">
              <a:spcBef>
                <a:spcPts val="600"/>
              </a:spcBef>
              <a:buFont typeface="Wingdings"/>
              <a:buChar char="▪"/>
              <a:defRPr sz="2632"/>
            </a:pPr>
            <a:r>
              <a:rPr dirty="0" err="1"/>
              <a:t>gcc</a:t>
            </a:r>
            <a:r>
              <a:rPr dirty="0"/>
              <a:t>/g++ &lt;</a:t>
            </a:r>
            <a:r>
              <a:rPr dirty="0" err="1"/>
              <a:t>progname</a:t>
            </a:r>
            <a:r>
              <a:rPr dirty="0"/>
              <a:t>&gt; –</a:t>
            </a:r>
            <a:r>
              <a:rPr dirty="0" err="1"/>
              <a:t>lpthread</a:t>
            </a:r>
            <a:endParaRPr dirty="0"/>
          </a:p>
          <a:p>
            <a:pPr marL="698373" lvl="1" indent="-268604" defTabSz="859536">
              <a:spcBef>
                <a:spcPts val="600"/>
              </a:spcBef>
              <a:buFont typeface="Wingdings"/>
              <a:buChar char="▪"/>
              <a:defRPr sz="2632"/>
            </a:pPr>
            <a:r>
              <a:rPr dirty="0" err="1"/>
              <a:t>gcc</a:t>
            </a:r>
            <a:r>
              <a:rPr dirty="0"/>
              <a:t>/g++ -</a:t>
            </a:r>
            <a:r>
              <a:rPr dirty="0" err="1"/>
              <a:t>pthread</a:t>
            </a:r>
            <a:r>
              <a:rPr dirty="0"/>
              <a:t> &lt;</a:t>
            </a:r>
            <a:r>
              <a:rPr dirty="0" err="1"/>
              <a:t>progname</a:t>
            </a:r>
            <a:r>
              <a:rPr dirty="0"/>
              <a:t>&gt;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2213C0-2407-2AE9-F6E7-C37945F5AF87}"/>
                  </a:ext>
                </a:extLst>
              </p14:cNvPr>
              <p14:cNvContentPartPr/>
              <p14:nvPr/>
            </p14:nvContentPartPr>
            <p14:xfrm>
              <a:off x="838592" y="2599599"/>
              <a:ext cx="554760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2213C0-2407-2AE9-F6E7-C37945F5AF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952" y="2590599"/>
                <a:ext cx="556524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dirty="0"/>
              <a:t>Routines: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pthread_create</a:t>
            </a:r>
            <a:r>
              <a:rPr dirty="0"/>
              <a:t> (thread, </a:t>
            </a:r>
            <a:r>
              <a:rPr dirty="0" err="1"/>
              <a:t>attr</a:t>
            </a:r>
            <a:r>
              <a:rPr dirty="0"/>
              <a:t>, </a:t>
            </a:r>
            <a:r>
              <a:rPr dirty="0" err="1"/>
              <a:t>start_routine</a:t>
            </a:r>
            <a:r>
              <a:rPr dirty="0"/>
              <a:t>, </a:t>
            </a:r>
            <a:r>
              <a:rPr dirty="0" err="1"/>
              <a:t>arg</a:t>
            </a:r>
            <a:r>
              <a:rPr dirty="0"/>
              <a:t>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pthread_join</a:t>
            </a:r>
            <a:r>
              <a:rPr dirty="0"/>
              <a:t> (</a:t>
            </a:r>
            <a:r>
              <a:rPr dirty="0" err="1"/>
              <a:t>threadid</a:t>
            </a:r>
            <a:r>
              <a:rPr dirty="0"/>
              <a:t>, status)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pthread_exit</a:t>
            </a:r>
            <a:r>
              <a:rPr dirty="0"/>
              <a:t> (status)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pthread_cancel</a:t>
            </a:r>
            <a:r>
              <a:rPr dirty="0"/>
              <a:t> (thread)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pthread_attr_init</a:t>
            </a:r>
            <a:r>
              <a:rPr dirty="0"/>
              <a:t> (</a:t>
            </a:r>
            <a:r>
              <a:rPr dirty="0" err="1"/>
              <a:t>attr</a:t>
            </a:r>
            <a:r>
              <a:rPr dirty="0"/>
              <a:t>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pthread_attr_destroy</a:t>
            </a:r>
            <a:r>
              <a:rPr dirty="0"/>
              <a:t> (</a:t>
            </a:r>
            <a:r>
              <a:rPr dirty="0" err="1"/>
              <a:t>attr</a:t>
            </a:r>
            <a:r>
              <a:rPr dirty="0"/>
              <a:t>)</a:t>
            </a:r>
          </a:p>
        </p:txBody>
      </p:sp>
      <p:sp>
        <p:nvSpPr>
          <p:cNvPr id="147" name="Shape 1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Pthread Management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4556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>
                <a:highlight>
                  <a:srgbClr val="FF00FF"/>
                </a:highlight>
              </a:rPr>
              <a:t>Pthread</a:t>
            </a:r>
            <a:r>
              <a:rPr dirty="0"/>
              <a:t> </a:t>
            </a:r>
            <a:r>
              <a:rPr dirty="0">
                <a:highlight>
                  <a:srgbClr val="FF00FF"/>
                </a:highlight>
              </a:rPr>
              <a:t>Management</a:t>
            </a:r>
          </a:p>
        </p:txBody>
      </p:sp>
      <p:sp>
        <p:nvSpPr>
          <p:cNvPr id="150" name="Shape 150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305800" cy="4876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700"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pthread_create</a:t>
            </a:r>
            <a:r>
              <a:rPr dirty="0"/>
              <a:t> (thread, </a:t>
            </a:r>
            <a:r>
              <a:rPr dirty="0" err="1"/>
              <a:t>attr</a:t>
            </a:r>
            <a:r>
              <a:rPr dirty="0"/>
              <a:t>, </a:t>
            </a:r>
            <a:r>
              <a:rPr dirty="0" err="1"/>
              <a:t>start_routine</a:t>
            </a:r>
            <a:r>
              <a:rPr dirty="0"/>
              <a:t>, </a:t>
            </a:r>
            <a:r>
              <a:rPr dirty="0" err="1"/>
              <a:t>arg</a:t>
            </a:r>
            <a:r>
              <a:rPr dirty="0"/>
              <a:t>) </a:t>
            </a:r>
            <a:r>
              <a:rPr dirty="0">
                <a:solidFill>
                  <a:srgbClr val="000000"/>
                </a:solidFill>
              </a:rPr>
              <a:t>creates a new thread and makes it executable. This routine can be called any number of times from anywhere within your code. </a:t>
            </a:r>
          </a:p>
          <a:p>
            <a:pPr>
              <a:lnSpc>
                <a:spcPct val="80000"/>
              </a:lnSpc>
              <a:spcBef>
                <a:spcPts val="600"/>
              </a:spcBef>
              <a:buSzTx/>
              <a:buNone/>
              <a:defRPr sz="2700">
                <a:solidFill>
                  <a:srgbClr val="00B0F0"/>
                </a:solidFill>
              </a:defRPr>
            </a:pPr>
            <a:endParaRPr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700"/>
            </a:pPr>
            <a:r>
              <a:rPr dirty="0" err="1"/>
              <a:t>pthread_create</a:t>
            </a:r>
            <a:r>
              <a:rPr dirty="0"/>
              <a:t> arguments:</a:t>
            </a:r>
          </a:p>
          <a:p>
            <a:pPr marL="742950" lvl="1" indent="-285750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300">
                <a:solidFill>
                  <a:srgbClr val="00B0F0"/>
                </a:solidFill>
              </a:defRPr>
            </a:pPr>
            <a:r>
              <a:rPr dirty="0"/>
              <a:t>thread:</a:t>
            </a:r>
            <a:r>
              <a:rPr dirty="0">
                <a:solidFill>
                  <a:srgbClr val="000000"/>
                </a:solidFill>
              </a:rPr>
              <a:t> An unique identifier for the new thread returned by the subroutine. </a:t>
            </a:r>
          </a:p>
          <a:p>
            <a:pPr marL="742950" lvl="1" indent="-285750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300">
                <a:solidFill>
                  <a:srgbClr val="00B0F0"/>
                </a:solidFill>
              </a:defRPr>
            </a:pPr>
            <a:r>
              <a:rPr dirty="0" err="1"/>
              <a:t>attr</a:t>
            </a:r>
            <a:r>
              <a:rPr dirty="0"/>
              <a:t>:</a:t>
            </a:r>
            <a:r>
              <a:rPr dirty="0">
                <a:solidFill>
                  <a:srgbClr val="000000"/>
                </a:solidFill>
              </a:rPr>
              <a:t> can be used to set thread attributes. NULL: default, specified only at thread creation time.</a:t>
            </a:r>
          </a:p>
          <a:p>
            <a:pPr marL="742950" lvl="1" indent="-285750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300">
                <a:solidFill>
                  <a:srgbClr val="00B0F0"/>
                </a:solidFill>
              </a:defRPr>
            </a:pPr>
            <a:r>
              <a:rPr dirty="0" err="1"/>
              <a:t>start_routine</a:t>
            </a:r>
            <a:r>
              <a:rPr dirty="0"/>
              <a:t>: </a:t>
            </a:r>
            <a:r>
              <a:rPr dirty="0">
                <a:solidFill>
                  <a:srgbClr val="000000"/>
                </a:solidFill>
              </a:rPr>
              <a:t>the C routine that the thread will execute once it is created. </a:t>
            </a:r>
          </a:p>
          <a:p>
            <a:pPr marL="742950" lvl="1" indent="-285750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300">
                <a:solidFill>
                  <a:srgbClr val="00B0F0"/>
                </a:solidFill>
              </a:defRPr>
            </a:pPr>
            <a:r>
              <a:rPr dirty="0" err="1"/>
              <a:t>arg</a:t>
            </a:r>
            <a:r>
              <a:rPr dirty="0"/>
              <a:t>:</a:t>
            </a:r>
            <a:r>
              <a:rPr dirty="0">
                <a:solidFill>
                  <a:srgbClr val="000000"/>
                </a:solidFill>
              </a:rPr>
              <a:t> A single argument that may be passed to </a:t>
            </a:r>
            <a:r>
              <a:rPr dirty="0" err="1">
                <a:solidFill>
                  <a:srgbClr val="000000"/>
                </a:solidFill>
              </a:rPr>
              <a:t>start_routine</a:t>
            </a:r>
            <a:r>
              <a:rPr dirty="0">
                <a:solidFill>
                  <a:srgbClr val="000000"/>
                </a:solidFill>
              </a:rPr>
              <a:t>. 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36042" indent="-336042" defTabSz="896111">
              <a:lnSpc>
                <a:spcPct val="90000"/>
              </a:lnSpc>
              <a:buFont typeface="Wingdings"/>
              <a:buChar char="➢"/>
              <a:defRPr sz="3136"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pthread_join</a:t>
            </a:r>
            <a:r>
              <a:rPr dirty="0"/>
              <a:t> (</a:t>
            </a:r>
            <a:r>
              <a:rPr dirty="0" err="1"/>
              <a:t>threadid</a:t>
            </a:r>
            <a:r>
              <a:rPr dirty="0"/>
              <a:t>, status)</a:t>
            </a:r>
            <a:r>
              <a:rPr dirty="0">
                <a:solidFill>
                  <a:srgbClr val="000000"/>
                </a:solidFill>
              </a:rPr>
              <a:t> accomplishes synchronization between threads.</a:t>
            </a:r>
          </a:p>
          <a:p>
            <a:pPr marL="336042" indent="-336042" defTabSz="896111">
              <a:lnSpc>
                <a:spcPct val="90000"/>
              </a:lnSpc>
              <a:buFont typeface="Wingdings"/>
              <a:buChar char="➢"/>
              <a:defRPr sz="3136">
                <a:solidFill>
                  <a:srgbClr val="00B0F0"/>
                </a:solidFill>
              </a:defRPr>
            </a:pPr>
            <a:r>
              <a:rPr dirty="0" err="1"/>
              <a:t>pthread_join</a:t>
            </a:r>
            <a:r>
              <a:rPr dirty="0"/>
              <a:t>(</a:t>
            </a:r>
            <a:r>
              <a:rPr dirty="0" err="1"/>
              <a:t>threadid</a:t>
            </a:r>
            <a:r>
              <a:rPr dirty="0"/>
              <a:t>, status)</a:t>
            </a:r>
            <a:r>
              <a:rPr dirty="0">
                <a:solidFill>
                  <a:srgbClr val="000000"/>
                </a:solidFill>
              </a:rPr>
              <a:t> subroutine blocks the calling thread until the specified </a:t>
            </a:r>
            <a:r>
              <a:rPr dirty="0" err="1"/>
              <a:t>threadid</a:t>
            </a:r>
            <a:r>
              <a:rPr dirty="0">
                <a:solidFill>
                  <a:srgbClr val="000000"/>
                </a:solidFill>
              </a:rPr>
              <a:t> thread terminates. </a:t>
            </a:r>
          </a:p>
          <a:p>
            <a:pPr marL="336042" indent="-336042" defTabSz="896111">
              <a:lnSpc>
                <a:spcPct val="90000"/>
              </a:lnSpc>
              <a:buFont typeface="Wingdings"/>
              <a:buChar char="➢"/>
              <a:defRPr sz="3136"/>
            </a:pPr>
            <a:r>
              <a:rPr dirty="0"/>
              <a:t>The programmer is able to obtain the target thread’s termination return </a:t>
            </a:r>
            <a:r>
              <a:rPr dirty="0">
                <a:solidFill>
                  <a:srgbClr val="00B0F0"/>
                </a:solidFill>
              </a:rPr>
              <a:t>status</a:t>
            </a:r>
            <a:r>
              <a:rPr dirty="0"/>
              <a:t> if it was specified in the target thread’s call to </a:t>
            </a:r>
            <a:r>
              <a:rPr dirty="0" err="1"/>
              <a:t>pthread_exit</a:t>
            </a:r>
            <a:r>
              <a:rPr dirty="0"/>
              <a:t>(). </a:t>
            </a:r>
          </a:p>
        </p:txBody>
      </p:sp>
      <p:sp>
        <p:nvSpPr>
          <p:cNvPr id="153" name="Shape 153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3976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Pthread Management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29456D-ADF6-8C8A-6CD2-3C6C36D6A3B4}"/>
                  </a:ext>
                </a:extLst>
              </p14:cNvPr>
              <p14:cNvContentPartPr/>
              <p14:nvPr/>
            </p14:nvContentPartPr>
            <p14:xfrm>
              <a:off x="982232" y="3391959"/>
              <a:ext cx="6591960" cy="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29456D-ADF6-8C8A-6CD2-3C6C36D6A3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3592" y="3383319"/>
                <a:ext cx="66096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0ACA53-EDF4-9544-8580-D9BB6E96D900}"/>
                  </a:ext>
                </a:extLst>
              </p14:cNvPr>
              <p14:cNvContentPartPr/>
              <p14:nvPr/>
            </p14:nvContentPartPr>
            <p14:xfrm>
              <a:off x="1027592" y="3843399"/>
              <a:ext cx="4033440" cy="3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0ACA53-EDF4-9544-8580-D9BB6E96D9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8952" y="3834399"/>
                <a:ext cx="4051080" cy="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288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Pthread Management</a:t>
            </a:r>
          </a:p>
        </p:txBody>
      </p:sp>
      <p:sp>
        <p:nvSpPr>
          <p:cNvPr id="156" name="Shape 15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305800" cy="4876800"/>
          </a:xfrm>
          <a:prstGeom prst="rect">
            <a:avLst/>
          </a:prstGeom>
        </p:spPr>
        <p:txBody>
          <a:bodyPr/>
          <a:lstStyle/>
          <a:p>
            <a:pPr marL="332613" indent="-332613" defTabSz="886968"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813"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pthread_exit</a:t>
            </a:r>
            <a:r>
              <a:rPr dirty="0"/>
              <a:t> (status) </a:t>
            </a:r>
            <a:r>
              <a:rPr dirty="0">
                <a:solidFill>
                  <a:srgbClr val="000000"/>
                </a:solidFill>
              </a:rPr>
              <a:t>allows the programmer to specify an optional termination </a:t>
            </a:r>
            <a:r>
              <a:rPr dirty="0"/>
              <a:t>status</a:t>
            </a:r>
            <a:r>
              <a:rPr dirty="0">
                <a:solidFill>
                  <a:srgbClr val="000000"/>
                </a:solidFill>
              </a:rPr>
              <a:t> parameter. If any file is open inside the thread, it will remain after the thread termination.</a:t>
            </a:r>
          </a:p>
          <a:p>
            <a:pPr marL="332613" indent="-332613" defTabSz="886968">
              <a:lnSpc>
                <a:spcPct val="80000"/>
              </a:lnSpc>
              <a:spcBef>
                <a:spcPts val="600"/>
              </a:spcBef>
              <a:buSzTx/>
              <a:buNone/>
              <a:defRPr sz="1649"/>
            </a:pPr>
            <a:endParaRPr dirty="0">
              <a:solidFill>
                <a:srgbClr val="000000"/>
              </a:solidFill>
            </a:endParaRPr>
          </a:p>
          <a:p>
            <a:pPr marL="332613" indent="-332613" defTabSz="886968">
              <a:lnSpc>
                <a:spcPct val="80000"/>
              </a:lnSpc>
              <a:spcBef>
                <a:spcPts val="600"/>
              </a:spcBef>
              <a:buFont typeface="Wingdings"/>
              <a:buChar char="➢"/>
              <a:defRPr sz="2813"/>
            </a:pPr>
            <a:r>
              <a:rPr dirty="0"/>
              <a:t>A thread may be terminated: </a:t>
            </a:r>
          </a:p>
          <a:p>
            <a:pPr marL="720661" lvl="1" indent="-277177" defTabSz="886968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425"/>
            </a:pPr>
            <a:r>
              <a:rPr dirty="0"/>
              <a:t>The thread returns normally from its starting routine. </a:t>
            </a:r>
          </a:p>
          <a:p>
            <a:pPr marL="720661" lvl="1" indent="-277177" defTabSz="886968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425"/>
            </a:pPr>
            <a:r>
              <a:rPr dirty="0"/>
              <a:t>The thread makes a call to the </a:t>
            </a:r>
            <a:r>
              <a:rPr dirty="0" err="1"/>
              <a:t>pthread_exit</a:t>
            </a:r>
            <a:r>
              <a:rPr dirty="0"/>
              <a:t> subroutine.</a:t>
            </a:r>
          </a:p>
          <a:p>
            <a:pPr marL="720661" lvl="1" indent="-277177" defTabSz="886968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425"/>
            </a:pPr>
            <a:r>
              <a:rPr dirty="0"/>
              <a:t>The thread is canceled by another thread via the </a:t>
            </a:r>
            <a:r>
              <a:rPr dirty="0" err="1">
                <a:solidFill>
                  <a:srgbClr val="00B0F0"/>
                </a:solidFill>
              </a:rPr>
              <a:t>pthread_cancel</a:t>
            </a:r>
            <a:r>
              <a:rPr dirty="0">
                <a:solidFill>
                  <a:srgbClr val="00B0F0"/>
                </a:solidFill>
              </a:rPr>
              <a:t> </a:t>
            </a:r>
            <a:r>
              <a:rPr dirty="0"/>
              <a:t>routine. </a:t>
            </a:r>
          </a:p>
          <a:p>
            <a:pPr marL="720661" lvl="1" indent="-277177" defTabSz="886968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425"/>
            </a:pPr>
            <a:r>
              <a:rPr dirty="0"/>
              <a:t>The entire process is terminated due to a call to exit() .</a:t>
            </a:r>
          </a:p>
          <a:p>
            <a:pPr marL="720661" lvl="1" indent="-277177" defTabSz="886968">
              <a:lnSpc>
                <a:spcPct val="80000"/>
              </a:lnSpc>
              <a:spcBef>
                <a:spcPts val="500"/>
              </a:spcBef>
              <a:buFont typeface="Wingdings"/>
              <a:buChar char="✓"/>
              <a:defRPr sz="2425"/>
            </a:pPr>
            <a:r>
              <a:rPr dirty="0"/>
              <a:t>If main() finishes first.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FD886C7-196A-490D-3FE4-5B50FEB79F85}"/>
                  </a:ext>
                </a:extLst>
              </p14:cNvPr>
              <p14:cNvContentPartPr/>
              <p14:nvPr/>
            </p14:nvContentPartPr>
            <p14:xfrm>
              <a:off x="1246832" y="5780919"/>
              <a:ext cx="257652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FD886C7-196A-490D-3FE4-5B50FEB79F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8192" y="5772279"/>
                <a:ext cx="259416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Pthread Management</a:t>
            </a:r>
          </a:p>
        </p:txBody>
      </p:sp>
      <p:sp>
        <p:nvSpPr>
          <p:cNvPr id="159" name="Shape 15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305800" cy="4876800"/>
          </a:xfrm>
          <a:prstGeom prst="rect">
            <a:avLst/>
          </a:prstGeom>
        </p:spPr>
        <p:txBody>
          <a:bodyPr/>
          <a:lstStyle/>
          <a:p>
            <a:pPr>
              <a:buFont typeface="Wingdings"/>
              <a:buChar char="➢"/>
              <a:defRPr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pthread_cancel</a:t>
            </a:r>
            <a:r>
              <a:rPr dirty="0"/>
              <a:t> (thread)</a:t>
            </a:r>
            <a:r>
              <a:rPr dirty="0">
                <a:solidFill>
                  <a:srgbClr val="000000"/>
                </a:solidFill>
              </a:rPr>
              <a:t> cancels the specified thread.</a:t>
            </a:r>
          </a:p>
          <a:p>
            <a:pPr>
              <a:buFont typeface="Wingdings"/>
              <a:buChar char="➢"/>
              <a:defRPr>
                <a:solidFill>
                  <a:srgbClr val="00B0F0"/>
                </a:solidFill>
              </a:defRPr>
            </a:pPr>
            <a:r>
              <a:rPr dirty="0" err="1">
                <a:solidFill>
                  <a:srgbClr val="FF0000"/>
                </a:solidFill>
                <a:highlight>
                  <a:srgbClr val="00FF00"/>
                </a:highlight>
              </a:rPr>
              <a:t>pthread_attr_init</a:t>
            </a:r>
            <a:r>
              <a:rPr dirty="0"/>
              <a:t> (thread)</a:t>
            </a:r>
            <a:r>
              <a:rPr dirty="0">
                <a:solidFill>
                  <a:srgbClr val="000000"/>
                </a:solidFill>
              </a:rPr>
              <a:t> allows to initialize the attribute thread.</a:t>
            </a:r>
          </a:p>
          <a:p>
            <a:pPr>
              <a:buFont typeface="Wingdings"/>
              <a:buChar char="➢"/>
              <a:defRPr>
                <a:solidFill>
                  <a:srgbClr val="00B0F0"/>
                </a:solidFill>
              </a:defRPr>
            </a:pPr>
            <a:r>
              <a:rPr dirty="0" err="1">
                <a:solidFill>
                  <a:srgbClr val="002060"/>
                </a:solidFill>
                <a:highlight>
                  <a:srgbClr val="FF00FF"/>
                </a:highlight>
              </a:rPr>
              <a:t>pthread_attr_destroy</a:t>
            </a:r>
            <a:r>
              <a:rPr dirty="0"/>
              <a:t> (thread)</a:t>
            </a:r>
            <a:r>
              <a:rPr dirty="0">
                <a:solidFill>
                  <a:srgbClr val="000000"/>
                </a:solidFill>
              </a:rPr>
              <a:t> allows to free library resources used by the attribute.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body" idx="1"/>
          </p:nvPr>
        </p:nvSpPr>
        <p:spPr>
          <a:xfrm>
            <a:off x="532800" y="228600"/>
            <a:ext cx="8154000" cy="6561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>
                <a:solidFill>
                  <a:srgbClr val="00B050"/>
                </a:solidFill>
              </a:defRPr>
            </a:pPr>
            <a:r>
              <a:rPr dirty="0"/>
              <a:t>#include &lt;</a:t>
            </a:r>
            <a:r>
              <a:rPr dirty="0" err="1"/>
              <a:t>pthread.h</a:t>
            </a:r>
            <a:r>
              <a:rPr dirty="0"/>
              <a:t>&gt;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/>
            </a:pPr>
            <a:r>
              <a:rPr dirty="0"/>
              <a:t>#include &lt;</a:t>
            </a:r>
            <a:r>
              <a:rPr dirty="0" err="1"/>
              <a:t>stdio.h</a:t>
            </a:r>
            <a:r>
              <a:rPr dirty="0"/>
              <a:t>&gt;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/>
            </a:pPr>
            <a:r>
              <a:rPr dirty="0"/>
              <a:t>#define NUM_THREADS 5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/>
            </a:pPr>
            <a:endParaRPr dirty="0"/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/>
            </a:pPr>
            <a:r>
              <a:rPr dirty="0"/>
              <a:t>void *</a:t>
            </a:r>
            <a:r>
              <a:rPr dirty="0" err="1"/>
              <a:t>PrintHello</a:t>
            </a:r>
            <a:r>
              <a:rPr dirty="0"/>
              <a:t>(void *</a:t>
            </a:r>
            <a:r>
              <a:rPr dirty="0" err="1"/>
              <a:t>threadid</a:t>
            </a:r>
            <a:r>
              <a:rPr dirty="0"/>
              <a:t>) {</a:t>
            </a:r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int </a:t>
            </a:r>
            <a:r>
              <a:rPr dirty="0" err="1"/>
              <a:t>tid</a:t>
            </a:r>
            <a:r>
              <a:rPr dirty="0"/>
              <a:t>;</a:t>
            </a:r>
            <a:endParaRPr sz="15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 err="1"/>
              <a:t>tid</a:t>
            </a:r>
            <a:r>
              <a:rPr dirty="0"/>
              <a:t> = (int) </a:t>
            </a:r>
            <a:r>
              <a:rPr dirty="0" err="1"/>
              <a:t>threadid</a:t>
            </a:r>
            <a:r>
              <a:rPr dirty="0"/>
              <a:t>;</a:t>
            </a:r>
            <a:endParaRPr sz="15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 err="1"/>
              <a:t>printf</a:t>
            </a:r>
            <a:r>
              <a:rPr dirty="0"/>
              <a:t>("Hello World! It's me, thread: %d!\n", </a:t>
            </a:r>
            <a:r>
              <a:rPr dirty="0" err="1"/>
              <a:t>tid</a:t>
            </a:r>
            <a:r>
              <a:rPr dirty="0"/>
              <a:t>);</a:t>
            </a:r>
            <a:endParaRPr sz="15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>
                <a:solidFill>
                  <a:srgbClr val="00B050"/>
                </a:solidFill>
              </a:defRPr>
            </a:pPr>
            <a:r>
              <a:rPr dirty="0" err="1"/>
              <a:t>pthread_exit</a:t>
            </a:r>
            <a:r>
              <a:rPr dirty="0"/>
              <a:t>(NULL);</a:t>
            </a:r>
            <a:endParaRPr sz="1500" dirty="0"/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/>
            </a:pPr>
            <a:r>
              <a:rPr dirty="0"/>
              <a:t>}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/>
            </a:pPr>
            <a:r>
              <a:rPr dirty="0"/>
              <a:t>int main (int </a:t>
            </a:r>
            <a:r>
              <a:rPr dirty="0" err="1"/>
              <a:t>argc</a:t>
            </a:r>
            <a:r>
              <a:rPr dirty="0"/>
              <a:t>, char *</a:t>
            </a:r>
            <a:r>
              <a:rPr dirty="0" err="1"/>
              <a:t>argv</a:t>
            </a:r>
            <a:r>
              <a:rPr dirty="0"/>
              <a:t>[]) {</a:t>
            </a:r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>
                <a:solidFill>
                  <a:srgbClr val="00B050"/>
                </a:solidFill>
              </a:defRPr>
            </a:pPr>
            <a:r>
              <a:rPr dirty="0" err="1"/>
              <a:t>pthread_t</a:t>
            </a:r>
            <a:r>
              <a:rPr dirty="0"/>
              <a:t> threads[NUM_THREADS];</a:t>
            </a:r>
            <a:endParaRPr sz="15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int </a:t>
            </a:r>
            <a:r>
              <a:rPr dirty="0" err="1"/>
              <a:t>rc</a:t>
            </a:r>
            <a:r>
              <a:rPr dirty="0"/>
              <a:t>;</a:t>
            </a:r>
            <a:endParaRPr sz="15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for(int t=0; t&lt;NUM_THREADS; t++){</a:t>
            </a:r>
            <a:endParaRPr sz="1500" dirty="0"/>
          </a:p>
          <a:p>
            <a:pPr marL="228600" lvl="2" indent="68580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 err="1"/>
              <a:t>printf</a:t>
            </a:r>
            <a:r>
              <a:rPr dirty="0"/>
              <a:t>("In main: creating thread %d\n", t);</a:t>
            </a:r>
            <a:endParaRPr sz="1300" dirty="0"/>
          </a:p>
          <a:p>
            <a:pPr marL="228600" lvl="2" indent="68580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 err="1"/>
              <a:t>rc</a:t>
            </a:r>
            <a:r>
              <a:rPr dirty="0"/>
              <a:t> = </a:t>
            </a:r>
            <a:r>
              <a:rPr dirty="0" err="1">
                <a:solidFill>
                  <a:srgbClr val="00B050"/>
                </a:solidFill>
              </a:rPr>
              <a:t>pthread_create</a:t>
            </a:r>
            <a:r>
              <a:rPr dirty="0">
                <a:solidFill>
                  <a:srgbClr val="00B050"/>
                </a:solidFill>
              </a:rPr>
              <a:t>(&amp;threads[t], NULL, </a:t>
            </a:r>
            <a:r>
              <a:rPr dirty="0" err="1">
                <a:solidFill>
                  <a:srgbClr val="00B050"/>
                </a:solidFill>
              </a:rPr>
              <a:t>PrintHello</a:t>
            </a:r>
            <a:r>
              <a:rPr dirty="0">
                <a:solidFill>
                  <a:srgbClr val="00B050"/>
                </a:solidFill>
              </a:rPr>
              <a:t>, (void *)t);</a:t>
            </a:r>
            <a:endParaRPr sz="1300" dirty="0"/>
          </a:p>
          <a:p>
            <a:pPr marL="228600" lvl="2" indent="68580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if (</a:t>
            </a:r>
            <a:r>
              <a:rPr dirty="0" err="1"/>
              <a:t>rc</a:t>
            </a:r>
            <a:r>
              <a:rPr dirty="0"/>
              <a:t>){</a:t>
            </a:r>
            <a:endParaRPr sz="1300" dirty="0"/>
          </a:p>
          <a:p>
            <a:pPr marL="228600" lvl="2" indent="68580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	</a:t>
            </a:r>
            <a:r>
              <a:rPr dirty="0" err="1"/>
              <a:t>printf</a:t>
            </a:r>
            <a:r>
              <a:rPr dirty="0"/>
              <a:t>("ERROR; return code from </a:t>
            </a:r>
            <a:r>
              <a:rPr dirty="0" err="1"/>
              <a:t>pthread_create</a:t>
            </a:r>
            <a:r>
              <a:rPr dirty="0"/>
              <a:t>() is %d\n", </a:t>
            </a:r>
            <a:r>
              <a:rPr dirty="0" err="1"/>
              <a:t>rc</a:t>
            </a:r>
            <a:r>
              <a:rPr dirty="0"/>
              <a:t>);</a:t>
            </a:r>
            <a:endParaRPr sz="1300" dirty="0"/>
          </a:p>
          <a:p>
            <a:pPr marL="228600" lvl="2" indent="68580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	exit(-1);</a:t>
            </a:r>
            <a:endParaRPr sz="13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		}</a:t>
            </a:r>
            <a:endParaRPr sz="33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}</a:t>
            </a:r>
            <a:endParaRPr sz="15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>
                <a:solidFill>
                  <a:srgbClr val="00B050"/>
                </a:solidFill>
              </a:defRPr>
            </a:pPr>
            <a:r>
              <a:rPr dirty="0" err="1"/>
              <a:t>pthread_exit</a:t>
            </a:r>
            <a:r>
              <a:rPr dirty="0"/>
              <a:t>(NULL);</a:t>
            </a:r>
            <a:endParaRPr sz="1500" dirty="0"/>
          </a:p>
          <a:p>
            <a:pPr marL="285750" lvl="1" indent="171450">
              <a:lnSpc>
                <a:spcPct val="80000"/>
              </a:lnSpc>
              <a:spcBef>
                <a:spcPts val="400"/>
              </a:spcBef>
              <a:buSzTx/>
              <a:buNone/>
              <a:defRPr sz="1800"/>
            </a:pPr>
            <a:r>
              <a:rPr dirty="0"/>
              <a:t>return  0;</a:t>
            </a:r>
            <a:endParaRPr sz="1500" dirty="0"/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1700"/>
            </a:pPr>
            <a:r>
              <a:rPr dirty="0"/>
              <a:t>}</a:t>
            </a:r>
          </a:p>
        </p:txBody>
      </p:sp>
      <p:sp>
        <p:nvSpPr>
          <p:cNvPr id="162" name="Shape 162"/>
          <p:cNvSpPr/>
          <p:nvPr/>
        </p:nvSpPr>
        <p:spPr>
          <a:xfrm>
            <a:off x="4394200" y="5137809"/>
            <a:ext cx="3962400" cy="107721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/>
            </a:pPr>
            <a:r>
              <a:rPr dirty="0"/>
              <a:t>By having main() explicitly call</a:t>
            </a:r>
          </a:p>
          <a:p>
            <a:pPr>
              <a:defRPr sz="1600"/>
            </a:pPr>
            <a:r>
              <a:rPr dirty="0" err="1">
                <a:highlight>
                  <a:srgbClr val="FFFF00"/>
                </a:highlight>
              </a:rPr>
              <a:t>pthread_exit</a:t>
            </a:r>
            <a:r>
              <a:rPr dirty="0">
                <a:highlight>
                  <a:srgbClr val="FFFF00"/>
                </a:highlight>
              </a:rPr>
              <a:t>()</a:t>
            </a:r>
            <a:r>
              <a:rPr dirty="0"/>
              <a:t> as the last thing it does,</a:t>
            </a:r>
          </a:p>
          <a:p>
            <a:pPr>
              <a:defRPr sz="1600"/>
            </a:pPr>
            <a:r>
              <a:rPr dirty="0"/>
              <a:t>main() will block and be kept alive to support</a:t>
            </a:r>
          </a:p>
          <a:p>
            <a:pPr>
              <a:defRPr sz="1600"/>
            </a:pPr>
            <a:r>
              <a:rPr dirty="0"/>
              <a:t>the threads it created until they are done.</a:t>
            </a:r>
          </a:p>
        </p:txBody>
      </p:sp>
      <p:sp>
        <p:nvSpPr>
          <p:cNvPr id="163" name="Shape 163"/>
          <p:cNvSpPr/>
          <p:nvPr/>
        </p:nvSpPr>
        <p:spPr>
          <a:xfrm flipH="1">
            <a:off x="2895599" y="5715000"/>
            <a:ext cx="1524001" cy="38100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457200" y="76200"/>
            <a:ext cx="8229600" cy="6705600"/>
          </a:xfrm>
          <a:prstGeom prst="rect">
            <a:avLst/>
          </a:prstGeom>
        </p:spPr>
        <p:txBody>
          <a:bodyPr/>
          <a:lstStyle/>
          <a:p>
            <a:pPr marL="339470" indent="-339470" defTabSz="905255">
              <a:spcBef>
                <a:spcPts val="300"/>
              </a:spcBef>
              <a:buSzTx/>
              <a:buNone/>
              <a:defRPr sz="1584">
                <a:solidFill>
                  <a:srgbClr val="00B050"/>
                </a:solidFill>
              </a:defRPr>
            </a:pPr>
            <a:r>
              <a:rPr dirty="0"/>
              <a:t>#include &lt;</a:t>
            </a:r>
            <a:r>
              <a:rPr dirty="0" err="1"/>
              <a:t>pthread.h</a:t>
            </a:r>
            <a:r>
              <a:rPr dirty="0"/>
              <a:t>&gt;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#include &lt;</a:t>
            </a:r>
            <a:r>
              <a:rPr dirty="0" err="1"/>
              <a:t>stdio.h</a:t>
            </a:r>
            <a:r>
              <a:rPr dirty="0"/>
              <a:t>&gt;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#define NUM_THREADS 5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void *</a:t>
            </a:r>
            <a:r>
              <a:rPr dirty="0" err="1"/>
              <a:t>PrintHello</a:t>
            </a:r>
            <a:r>
              <a:rPr dirty="0"/>
              <a:t>(void *</a:t>
            </a:r>
            <a:r>
              <a:rPr dirty="0" err="1"/>
              <a:t>threadid</a:t>
            </a:r>
            <a:r>
              <a:rPr dirty="0"/>
              <a:t>) {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int </a:t>
            </a:r>
            <a:r>
              <a:rPr dirty="0" err="1"/>
              <a:t>tid</a:t>
            </a:r>
            <a:r>
              <a:rPr dirty="0"/>
              <a:t>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tid</a:t>
            </a:r>
            <a:r>
              <a:rPr dirty="0"/>
              <a:t> = (int) </a:t>
            </a:r>
            <a:r>
              <a:rPr dirty="0" err="1"/>
              <a:t>threadid</a:t>
            </a:r>
            <a:r>
              <a:rPr dirty="0"/>
              <a:t>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printf</a:t>
            </a:r>
            <a:r>
              <a:rPr dirty="0"/>
              <a:t>("Hello World! It's me, thread: %d!\n", </a:t>
            </a:r>
            <a:r>
              <a:rPr dirty="0" err="1"/>
              <a:t>tid</a:t>
            </a:r>
            <a:r>
              <a:rPr dirty="0"/>
              <a:t>);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}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int main (int </a:t>
            </a:r>
            <a:r>
              <a:rPr dirty="0" err="1"/>
              <a:t>argc</a:t>
            </a:r>
            <a:r>
              <a:rPr dirty="0"/>
              <a:t>, char *</a:t>
            </a:r>
            <a:r>
              <a:rPr dirty="0" err="1"/>
              <a:t>argv</a:t>
            </a:r>
            <a:r>
              <a:rPr dirty="0"/>
              <a:t>[]) {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>
                <a:solidFill>
                  <a:srgbClr val="00B050"/>
                </a:solidFill>
              </a:defRPr>
            </a:pPr>
            <a:r>
              <a:rPr dirty="0" err="1"/>
              <a:t>pthread_t</a:t>
            </a:r>
            <a:r>
              <a:rPr dirty="0"/>
              <a:t> threads[NUM_THREADS];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int </a:t>
            </a:r>
            <a:r>
              <a:rPr dirty="0" err="1"/>
              <a:t>rc</a:t>
            </a:r>
            <a:r>
              <a:rPr dirty="0"/>
              <a:t>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for(int t=0; t&lt;NUM_THREADS; t++){</a:t>
            </a:r>
            <a:endParaRPr sz="2772" dirty="0"/>
          </a:p>
          <a:p>
            <a:pPr marL="226313" lvl="2" indent="678941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printf</a:t>
            </a:r>
            <a:r>
              <a:rPr dirty="0"/>
              <a:t>("In main: creating thread %d\n", t);</a:t>
            </a:r>
            <a:endParaRPr sz="2376" dirty="0"/>
          </a:p>
          <a:p>
            <a:pPr marL="226313" lvl="2" indent="678941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rc</a:t>
            </a:r>
            <a:r>
              <a:rPr dirty="0"/>
              <a:t> = </a:t>
            </a:r>
            <a:r>
              <a:rPr dirty="0" err="1">
                <a:solidFill>
                  <a:srgbClr val="00B050"/>
                </a:solidFill>
              </a:rPr>
              <a:t>pthread_create</a:t>
            </a:r>
            <a:r>
              <a:rPr dirty="0">
                <a:solidFill>
                  <a:srgbClr val="00B050"/>
                </a:solidFill>
              </a:rPr>
              <a:t>(&amp;threads[t], NULL, </a:t>
            </a:r>
            <a:r>
              <a:rPr dirty="0" err="1">
                <a:solidFill>
                  <a:srgbClr val="00B050"/>
                </a:solidFill>
              </a:rPr>
              <a:t>PrintHello</a:t>
            </a:r>
            <a:r>
              <a:rPr dirty="0">
                <a:solidFill>
                  <a:srgbClr val="00B050"/>
                </a:solidFill>
              </a:rPr>
              <a:t>, (void *)t);</a:t>
            </a:r>
            <a:endParaRPr sz="2376" dirty="0"/>
          </a:p>
          <a:p>
            <a:pPr marL="226313" lvl="2" indent="678941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if (</a:t>
            </a:r>
            <a:r>
              <a:rPr dirty="0" err="1"/>
              <a:t>rc</a:t>
            </a:r>
            <a:r>
              <a:rPr dirty="0"/>
              <a:t>){</a:t>
            </a:r>
            <a:endParaRPr sz="2376" dirty="0"/>
          </a:p>
          <a:p>
            <a:pPr marL="226313" lvl="2" indent="678941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</a:t>
            </a:r>
            <a:r>
              <a:rPr dirty="0" err="1"/>
              <a:t>printf</a:t>
            </a:r>
            <a:r>
              <a:rPr dirty="0"/>
              <a:t>("ERROR; return code from </a:t>
            </a:r>
            <a:r>
              <a:rPr dirty="0" err="1"/>
              <a:t>pthread_create</a:t>
            </a:r>
            <a:r>
              <a:rPr dirty="0"/>
              <a:t>() is %d\n", </a:t>
            </a:r>
            <a:r>
              <a:rPr dirty="0" err="1"/>
              <a:t>rc</a:t>
            </a:r>
            <a:r>
              <a:rPr dirty="0"/>
              <a:t>);</a:t>
            </a:r>
            <a:endParaRPr sz="2376" dirty="0"/>
          </a:p>
          <a:p>
            <a:pPr marL="226313" lvl="2" indent="678941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exit(-1);</a:t>
            </a:r>
            <a:endParaRPr sz="2376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	}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}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for (int </a:t>
            </a:r>
            <a:r>
              <a:rPr dirty="0" err="1"/>
              <a:t>i</a:t>
            </a:r>
            <a:r>
              <a:rPr dirty="0"/>
              <a:t>=0; </a:t>
            </a:r>
            <a:r>
              <a:rPr dirty="0" err="1"/>
              <a:t>i</a:t>
            </a:r>
            <a:r>
              <a:rPr dirty="0"/>
              <a:t>&lt;NUM_THREADS; </a:t>
            </a:r>
            <a:r>
              <a:rPr dirty="0" err="1"/>
              <a:t>i</a:t>
            </a:r>
            <a:r>
              <a:rPr dirty="0"/>
              <a:t>++)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	</a:t>
            </a:r>
            <a:r>
              <a:rPr dirty="0" err="1">
                <a:solidFill>
                  <a:srgbClr val="00B050"/>
                </a:solidFill>
                <a:highlight>
                  <a:srgbClr val="FFFF00"/>
                </a:highlight>
              </a:rPr>
              <a:t>pthread_join</a:t>
            </a:r>
            <a:r>
              <a:rPr dirty="0">
                <a:solidFill>
                  <a:srgbClr val="00B050"/>
                </a:solidFill>
                <a:highlight>
                  <a:srgbClr val="FFFF00"/>
                </a:highlight>
              </a:rPr>
              <a:t> (threads[</a:t>
            </a:r>
            <a:r>
              <a:rPr dirty="0" err="1">
                <a:solidFill>
                  <a:srgbClr val="00B050"/>
                </a:solidFill>
                <a:highlight>
                  <a:srgbClr val="FFFF00"/>
                </a:highlight>
              </a:rPr>
              <a:t>i</a:t>
            </a:r>
            <a:r>
              <a:rPr dirty="0">
                <a:solidFill>
                  <a:srgbClr val="00B050"/>
                </a:solidFill>
                <a:highlight>
                  <a:srgbClr val="FFFF00"/>
                </a:highlight>
              </a:rPr>
              <a:t>], NULL);</a:t>
            </a:r>
            <a:endParaRPr sz="2772" dirty="0">
              <a:highlight>
                <a:srgbClr val="FFFF00"/>
              </a:highlight>
            </a:endParaRP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return  0;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}</a:t>
            </a:r>
          </a:p>
        </p:txBody>
      </p:sp>
      <p:sp>
        <p:nvSpPr>
          <p:cNvPr id="166" name="Shape 166"/>
          <p:cNvSpPr/>
          <p:nvPr/>
        </p:nvSpPr>
        <p:spPr>
          <a:xfrm>
            <a:off x="5562600" y="5486399"/>
            <a:ext cx="2743200" cy="84074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600"/>
            </a:lvl1pPr>
          </a:lstStyle>
          <a:p>
            <a:r>
              <a:t>main() will block until all the threads[i] threads terminate.</a:t>
            </a:r>
          </a:p>
        </p:txBody>
      </p:sp>
      <p:sp>
        <p:nvSpPr>
          <p:cNvPr id="167" name="Shape 167"/>
          <p:cNvSpPr/>
          <p:nvPr/>
        </p:nvSpPr>
        <p:spPr>
          <a:xfrm flipH="1">
            <a:off x="4038599" y="5715000"/>
            <a:ext cx="1524001" cy="38100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F2579F-44AB-04C1-C4F1-7F94EF08B3DD}"/>
                  </a:ext>
                </a:extLst>
              </p14:cNvPr>
              <p14:cNvContentPartPr/>
              <p14:nvPr/>
            </p14:nvContentPartPr>
            <p14:xfrm>
              <a:off x="5817600" y="5760000"/>
              <a:ext cx="197964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F2579F-44AB-04C1-C4F1-7F94EF08B3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8600" y="5751000"/>
                <a:ext cx="19972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2552EF-5EE0-90DD-2DB8-A062F9DF7B18}"/>
                  </a:ext>
                </a:extLst>
              </p14:cNvPr>
              <p14:cNvContentPartPr/>
              <p14:nvPr/>
            </p14:nvContentPartPr>
            <p14:xfrm>
              <a:off x="5652000" y="6011640"/>
              <a:ext cx="225324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2552EF-5EE0-90DD-2DB8-A062F9DF7B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43000" y="6003000"/>
                <a:ext cx="227088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6562"/>
          </a:xfrm>
          <a:prstGeom prst="rect">
            <a:avLst/>
          </a:prstGeom>
        </p:spPr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Mutual Exclusion</a:t>
            </a:r>
            <a:r>
              <a:rPr dirty="0"/>
              <a:t> </a:t>
            </a:r>
            <a:r>
              <a:rPr dirty="0">
                <a:highlight>
                  <a:srgbClr val="FF00FF"/>
                </a:highlight>
              </a:rPr>
              <a:t>(Mutex)</a:t>
            </a:r>
          </a:p>
        </p:txBody>
      </p:sp>
      <p:sp>
        <p:nvSpPr>
          <p:cNvPr id="170" name="Shape 170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Font typeface="Wingdings"/>
              <a:buChar char="➢"/>
            </a:pPr>
            <a:r>
              <a:rPr dirty="0"/>
              <a:t>One of the primary means of implementing </a:t>
            </a:r>
            <a:r>
              <a:rPr dirty="0">
                <a:solidFill>
                  <a:srgbClr val="00B050"/>
                </a:solidFill>
              </a:rPr>
              <a:t>thread synchronization </a:t>
            </a:r>
            <a:r>
              <a:rPr dirty="0"/>
              <a:t>and for protecting shared data when multiple writes occur.</a:t>
            </a:r>
          </a:p>
          <a:p>
            <a:pPr>
              <a:buFont typeface="Wingdings"/>
              <a:buChar char="➢"/>
            </a:pPr>
            <a:r>
              <a:rPr dirty="0"/>
              <a:t>A mutex acts like a </a:t>
            </a:r>
            <a:r>
              <a:rPr dirty="0">
                <a:solidFill>
                  <a:srgbClr val="00B050"/>
                </a:solidFill>
              </a:rPr>
              <a:t>lock</a:t>
            </a:r>
            <a:r>
              <a:rPr dirty="0"/>
              <a:t> protecting access to a shared data resource.</a:t>
            </a:r>
          </a:p>
          <a:p>
            <a:pPr>
              <a:buFont typeface="Wingdings"/>
              <a:buChar char="➢"/>
            </a:pPr>
            <a:r>
              <a:rPr dirty="0">
                <a:highlight>
                  <a:srgbClr val="FFFF00"/>
                </a:highlight>
              </a:rPr>
              <a:t>Only one thread can lock (or own) a mutex variable</a:t>
            </a:r>
            <a:r>
              <a:rPr dirty="0"/>
              <a:t> </a:t>
            </a:r>
            <a:r>
              <a:rPr dirty="0">
                <a:highlight>
                  <a:srgbClr val="00FFFF"/>
                </a:highlight>
              </a:rPr>
              <a:t>at any given time.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dirty="0"/>
              <a:t>Routines: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pthread_mutex_init</a:t>
            </a:r>
            <a:r>
              <a:rPr dirty="0"/>
              <a:t> (mutex, </a:t>
            </a:r>
            <a:r>
              <a:rPr dirty="0" err="1"/>
              <a:t>attr</a:t>
            </a:r>
            <a:r>
              <a:rPr dirty="0"/>
              <a:t>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pthread_mutex_destroy</a:t>
            </a:r>
            <a:r>
              <a:rPr dirty="0"/>
              <a:t> (mutex)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pthread_mutex_lock</a:t>
            </a:r>
            <a:r>
              <a:rPr dirty="0"/>
              <a:t> (mutex)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pthread_mutex_unlock</a:t>
            </a:r>
            <a:r>
              <a:rPr dirty="0"/>
              <a:t> (mutex)</a:t>
            </a:r>
          </a:p>
        </p:txBody>
      </p:sp>
      <p:sp>
        <p:nvSpPr>
          <p:cNvPr id="173" name="Shape 17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Mutual Exclusion (Mutex)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44B092-2FD5-0E88-EDF4-B546C953D6BB}"/>
                  </a:ext>
                </a:extLst>
              </p14:cNvPr>
              <p14:cNvContentPartPr/>
              <p14:nvPr/>
            </p14:nvContentPartPr>
            <p14:xfrm>
              <a:off x="1598040" y="1108800"/>
              <a:ext cx="5884920" cy="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44B092-2FD5-0E88-EDF4-B546C953D6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9400" y="1099800"/>
                <a:ext cx="5902560" cy="2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Font typeface="Wingdings"/>
              <a:buChar char="➢"/>
              <a:defRPr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pthread_mutex_init</a:t>
            </a:r>
            <a:r>
              <a:rPr dirty="0"/>
              <a:t> </a:t>
            </a:r>
            <a:r>
              <a:rPr dirty="0">
                <a:highlight>
                  <a:srgbClr val="FFFF00"/>
                </a:highlight>
              </a:rPr>
              <a:t>(mutex, </a:t>
            </a:r>
            <a:r>
              <a:rPr dirty="0" err="1">
                <a:highlight>
                  <a:srgbClr val="FFFF00"/>
                </a:highlight>
              </a:rPr>
              <a:t>attr</a:t>
            </a:r>
            <a:r>
              <a:rPr dirty="0">
                <a:highlight>
                  <a:srgbClr val="FFFF00"/>
                </a:highlight>
              </a:rPr>
              <a:t>)</a:t>
            </a:r>
            <a:r>
              <a:rPr dirty="0">
                <a:solidFill>
                  <a:srgbClr val="000000"/>
                </a:solidFill>
              </a:rPr>
              <a:t> initiates the </a:t>
            </a:r>
            <a:r>
              <a:rPr dirty="0"/>
              <a:t>mutex</a:t>
            </a:r>
            <a:r>
              <a:rPr dirty="0">
                <a:solidFill>
                  <a:srgbClr val="000000"/>
                </a:solidFill>
              </a:rPr>
              <a:t> and permits setting mutex object attributes </a:t>
            </a:r>
            <a:r>
              <a:rPr dirty="0" err="1"/>
              <a:t>attr</a:t>
            </a:r>
            <a:r>
              <a:rPr dirty="0">
                <a:solidFill>
                  <a:srgbClr val="000000"/>
                </a:solidFill>
              </a:rPr>
              <a:t>.</a:t>
            </a:r>
          </a:p>
          <a:p>
            <a:pPr>
              <a:buFont typeface="Wingdings"/>
              <a:buChar char="➢"/>
              <a:defRPr>
                <a:solidFill>
                  <a:srgbClr val="00B0F0"/>
                </a:solidFill>
              </a:defRPr>
            </a:pPr>
            <a:r>
              <a:rPr dirty="0" err="1">
                <a:solidFill>
                  <a:srgbClr val="002060"/>
                </a:solidFill>
                <a:highlight>
                  <a:srgbClr val="00FF00"/>
                </a:highlight>
              </a:rPr>
              <a:t>pthread_mutex_destroy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  <a:highlight>
                  <a:srgbClr val="00FF00"/>
                </a:highlight>
              </a:rPr>
              <a:t>(mutex)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</a:rPr>
              <a:t>should be used to free a </a:t>
            </a:r>
            <a:r>
              <a:rPr dirty="0"/>
              <a:t>mutex</a:t>
            </a:r>
            <a:r>
              <a:rPr dirty="0">
                <a:solidFill>
                  <a:srgbClr val="000000"/>
                </a:solidFill>
              </a:rPr>
              <a:t> object which is no longer needed.</a:t>
            </a:r>
          </a:p>
        </p:txBody>
      </p:sp>
      <p:sp>
        <p:nvSpPr>
          <p:cNvPr id="176" name="Shape 17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Mutual Exclusion (Mutex)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buFont typeface="Wingdings"/>
              <a:buChar char="➢"/>
              <a:defRPr sz="2900"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pthread_mutex_lock</a:t>
            </a:r>
            <a:r>
              <a:rPr dirty="0">
                <a:highlight>
                  <a:srgbClr val="FFFF00"/>
                </a:highlight>
              </a:rPr>
              <a:t> (mutex)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</a:rPr>
              <a:t>routine is used by a thread to acquire a lock on the specified </a:t>
            </a:r>
            <a:r>
              <a:rPr dirty="0"/>
              <a:t>mutex</a:t>
            </a:r>
            <a:r>
              <a:rPr dirty="0">
                <a:solidFill>
                  <a:srgbClr val="000000"/>
                </a:solidFill>
              </a:rPr>
              <a:t> variable. If the mutex is already locked by another thread, this call will block the calling thread until the mutex is unlocked.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Wingdings"/>
              <a:buChar char="➢"/>
              <a:defRPr sz="2900">
                <a:solidFill>
                  <a:srgbClr val="00B0F0"/>
                </a:solidFill>
              </a:defRPr>
            </a:pPr>
            <a:r>
              <a:rPr dirty="0" err="1">
                <a:solidFill>
                  <a:srgbClr val="002060"/>
                </a:solidFill>
                <a:highlight>
                  <a:srgbClr val="00FF00"/>
                </a:highlight>
              </a:rPr>
              <a:t>pthread_mutex_unlock</a:t>
            </a:r>
            <a:r>
              <a:rPr dirty="0">
                <a:solidFill>
                  <a:srgbClr val="002060"/>
                </a:solidFill>
                <a:highlight>
                  <a:srgbClr val="00FF00"/>
                </a:highlight>
              </a:rPr>
              <a:t> (mutex)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</a:rPr>
              <a:t>will unlock a mutex if called by the owning thread. An error will be returned if: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Wingdings"/>
              <a:buChar char="✓"/>
              <a:defRPr sz="2500"/>
            </a:pPr>
            <a:r>
              <a:rPr dirty="0"/>
              <a:t>If the mutex was already unlocked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buFont typeface="Wingdings"/>
              <a:buChar char="✓"/>
              <a:defRPr sz="2500"/>
            </a:pPr>
            <a:r>
              <a:rPr dirty="0"/>
              <a:t>If the mutex is owned by another thread </a:t>
            </a:r>
          </a:p>
        </p:txBody>
      </p:sp>
      <p:sp>
        <p:nvSpPr>
          <p:cNvPr id="179" name="Shape 1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Mutual Exclusion (Mutex)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399F8F-D4F3-2068-E927-1E2C99DB5B3F}"/>
                  </a:ext>
                </a:extLst>
              </p14:cNvPr>
              <p14:cNvContentPartPr/>
              <p14:nvPr/>
            </p14:nvContentPartPr>
            <p14:xfrm>
              <a:off x="950040" y="5022360"/>
              <a:ext cx="168480" cy="20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399F8F-D4F3-2068-E927-1E2C99DB5B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1400" y="5013720"/>
                <a:ext cx="1861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BC4666-A4ED-533F-B873-0123691B2A14}"/>
                  </a:ext>
                </a:extLst>
              </p14:cNvPr>
              <p14:cNvContentPartPr/>
              <p14:nvPr/>
            </p14:nvContentPartPr>
            <p14:xfrm>
              <a:off x="950040" y="5408640"/>
              <a:ext cx="172800" cy="23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BC4666-A4ED-533F-B873-0123691B2A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1400" y="5400000"/>
                <a:ext cx="190440" cy="25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/>
          </p:cNvSpPr>
          <p:nvPr>
            <p:ph type="body" idx="1"/>
          </p:nvPr>
        </p:nvSpPr>
        <p:spPr>
          <a:xfrm>
            <a:off x="457200" y="76200"/>
            <a:ext cx="8229600" cy="6705600"/>
          </a:xfrm>
          <a:prstGeom prst="rect">
            <a:avLst/>
          </a:prstGeom>
        </p:spPr>
        <p:txBody>
          <a:bodyPr/>
          <a:lstStyle/>
          <a:p>
            <a:pPr marL="339470" indent="-339470" defTabSz="905255">
              <a:spcBef>
                <a:spcPts val="300"/>
              </a:spcBef>
              <a:buSzTx/>
              <a:buNone/>
              <a:defRPr sz="1584">
                <a:solidFill>
                  <a:srgbClr val="00B050"/>
                </a:solidFill>
              </a:defRPr>
            </a:pPr>
            <a:r>
              <a:rPr dirty="0"/>
              <a:t>#include &lt;</a:t>
            </a:r>
            <a:r>
              <a:rPr dirty="0" err="1"/>
              <a:t>pthread.h</a:t>
            </a:r>
            <a:r>
              <a:rPr dirty="0"/>
              <a:t>&gt;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#include &lt;</a:t>
            </a:r>
            <a:r>
              <a:rPr dirty="0" err="1"/>
              <a:t>stdio.h</a:t>
            </a:r>
            <a:r>
              <a:rPr dirty="0"/>
              <a:t>&gt;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>
                <a:solidFill>
                  <a:srgbClr val="00B050"/>
                </a:solidFill>
              </a:defRPr>
            </a:pPr>
            <a:r>
              <a:rPr dirty="0" err="1"/>
              <a:t>pthread_mutex_t</a:t>
            </a:r>
            <a:r>
              <a:rPr dirty="0"/>
              <a:t> mutex;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int </a:t>
            </a:r>
            <a:r>
              <a:rPr dirty="0" err="1"/>
              <a:t>sum_value</a:t>
            </a:r>
            <a:r>
              <a:rPr dirty="0"/>
              <a:t>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void *</a:t>
            </a:r>
            <a:r>
              <a:rPr dirty="0" err="1"/>
              <a:t>doSum</a:t>
            </a:r>
            <a:r>
              <a:rPr dirty="0"/>
              <a:t> (void *</a:t>
            </a:r>
            <a:r>
              <a:rPr dirty="0" err="1"/>
              <a:t>arg</a:t>
            </a:r>
            <a:r>
              <a:rPr dirty="0"/>
              <a:t>) {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int sum = (int) </a:t>
            </a:r>
            <a:r>
              <a:rPr dirty="0" err="1"/>
              <a:t>arg</a:t>
            </a:r>
            <a:r>
              <a:rPr dirty="0"/>
              <a:t>;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while(true){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</a:t>
            </a:r>
            <a:r>
              <a:rPr dirty="0" err="1">
                <a:solidFill>
                  <a:srgbClr val="00B050"/>
                </a:solidFill>
              </a:rPr>
              <a:t>pthread_mutex_lock</a:t>
            </a:r>
            <a:r>
              <a:rPr dirty="0">
                <a:solidFill>
                  <a:srgbClr val="00B050"/>
                </a:solidFill>
              </a:rPr>
              <a:t>(&amp;mutex);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</a:t>
            </a:r>
            <a:r>
              <a:rPr dirty="0" err="1"/>
              <a:t>sum_value</a:t>
            </a:r>
            <a:r>
              <a:rPr dirty="0"/>
              <a:t> += sum;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</a:t>
            </a:r>
            <a:r>
              <a:rPr dirty="0" err="1"/>
              <a:t>printf</a:t>
            </a:r>
            <a:r>
              <a:rPr dirty="0"/>
              <a:t>(“After sum in thread %d = %d\n", sum, </a:t>
            </a:r>
            <a:r>
              <a:rPr dirty="0" err="1"/>
              <a:t>sum_value</a:t>
            </a:r>
            <a:r>
              <a:rPr dirty="0"/>
              <a:t>);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	</a:t>
            </a:r>
            <a:r>
              <a:rPr dirty="0" err="1">
                <a:solidFill>
                  <a:srgbClr val="00B050"/>
                </a:solidFill>
              </a:rPr>
              <a:t>pthread_mutex_unlock</a:t>
            </a:r>
            <a:r>
              <a:rPr dirty="0">
                <a:solidFill>
                  <a:srgbClr val="00B050"/>
                </a:solidFill>
              </a:rPr>
              <a:t> (&amp;mutex);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>
                <a:solidFill>
                  <a:srgbClr val="00B050"/>
                </a:solidFill>
              </a:defRPr>
            </a:pPr>
            <a:r>
              <a:rPr dirty="0"/>
              <a:t>	</a:t>
            </a:r>
            <a:r>
              <a:rPr dirty="0">
                <a:solidFill>
                  <a:srgbClr val="000000"/>
                </a:solidFill>
              </a:rPr>
              <a:t>Sleep(5);}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}</a:t>
            </a:r>
            <a:endParaRPr sz="1979" dirty="0"/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int main (int </a:t>
            </a:r>
            <a:r>
              <a:rPr dirty="0" err="1"/>
              <a:t>argc</a:t>
            </a:r>
            <a:r>
              <a:rPr dirty="0"/>
              <a:t>, char *</a:t>
            </a:r>
            <a:r>
              <a:rPr dirty="0" err="1"/>
              <a:t>argv</a:t>
            </a:r>
            <a:r>
              <a:rPr dirty="0"/>
              <a:t>[]) {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pthread_t</a:t>
            </a:r>
            <a:r>
              <a:rPr dirty="0"/>
              <a:t> thread1, thread2;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int t1 = 1, t2 = 2;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>
                <a:solidFill>
                  <a:srgbClr val="00B050"/>
                </a:solidFill>
              </a:defRPr>
            </a:pPr>
            <a:r>
              <a:rPr dirty="0" err="1"/>
              <a:t>pthread_mutex_init</a:t>
            </a:r>
            <a:r>
              <a:rPr dirty="0"/>
              <a:t>(&amp;mutex, NULL);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pthread_create</a:t>
            </a:r>
            <a:r>
              <a:rPr dirty="0"/>
              <a:t>(&amp;thread1, NULL, </a:t>
            </a:r>
            <a:r>
              <a:rPr dirty="0" err="1"/>
              <a:t>doSum</a:t>
            </a:r>
            <a:r>
              <a:rPr dirty="0"/>
              <a:t>, (void *)t1);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pthread_create</a:t>
            </a:r>
            <a:r>
              <a:rPr dirty="0"/>
              <a:t>(&amp;thread2, NULL, </a:t>
            </a:r>
            <a:r>
              <a:rPr dirty="0" err="1"/>
              <a:t>doSum</a:t>
            </a:r>
            <a:r>
              <a:rPr dirty="0"/>
              <a:t>, (void *)t2);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pthread_join</a:t>
            </a:r>
            <a:r>
              <a:rPr dirty="0"/>
              <a:t> (thread1, NULL);</a:t>
            </a:r>
            <a:endParaRPr sz="2772" dirty="0"/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 err="1"/>
              <a:t>pthread_join</a:t>
            </a:r>
            <a:r>
              <a:rPr dirty="0"/>
              <a:t> (thread2, NULL);</a:t>
            </a:r>
          </a:p>
          <a:p>
            <a:pPr marL="282892" lvl="1" indent="169735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return  0;</a:t>
            </a:r>
          </a:p>
          <a:p>
            <a:pPr marL="339470" indent="-339470" defTabSz="905255">
              <a:spcBef>
                <a:spcPts val="300"/>
              </a:spcBef>
              <a:buSzTx/>
              <a:buNone/>
              <a:defRPr sz="1584"/>
            </a:pPr>
            <a:r>
              <a:rPr dirty="0"/>
              <a:t>}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6856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>
                <a:highlight>
                  <a:srgbClr val="FF00FF"/>
                </a:highlight>
              </a:rPr>
              <a:t>Semaphores</a:t>
            </a:r>
          </a:p>
        </p:txBody>
      </p:sp>
      <p:sp>
        <p:nvSpPr>
          <p:cNvPr id="184" name="Shape 18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Font typeface="Wingdings"/>
              <a:buChar char="➢"/>
            </a:pPr>
            <a:r>
              <a:rPr dirty="0">
                <a:highlight>
                  <a:srgbClr val="FFFF00"/>
                </a:highlight>
              </a:rPr>
              <a:t>permit a limited number of threads</a:t>
            </a:r>
            <a:r>
              <a:rPr dirty="0"/>
              <a:t> </a:t>
            </a:r>
            <a:r>
              <a:rPr dirty="0">
                <a:highlight>
                  <a:srgbClr val="00FFFF"/>
                </a:highlight>
              </a:rPr>
              <a:t>to execute a section of the code</a:t>
            </a:r>
          </a:p>
          <a:p>
            <a:pPr>
              <a:buFont typeface="Wingdings"/>
              <a:buChar char="➢"/>
            </a:pPr>
            <a:r>
              <a:rPr dirty="0"/>
              <a:t>similar to mutexes</a:t>
            </a:r>
          </a:p>
          <a:p>
            <a:pPr>
              <a:buFont typeface="Wingdings"/>
              <a:buChar char="➢"/>
            </a:pPr>
            <a:r>
              <a:rPr dirty="0"/>
              <a:t>should include the </a:t>
            </a:r>
            <a:r>
              <a:rPr dirty="0" err="1">
                <a:solidFill>
                  <a:srgbClr val="00B0F0"/>
                </a:solidFill>
              </a:rPr>
              <a:t>semaphore.h</a:t>
            </a:r>
            <a:r>
              <a:rPr dirty="0"/>
              <a:t> header file</a:t>
            </a:r>
          </a:p>
          <a:p>
            <a:pPr>
              <a:buFont typeface="Wingdings"/>
              <a:buChar char="➢"/>
            </a:pPr>
            <a:r>
              <a:rPr dirty="0"/>
              <a:t>semaphore functions have </a:t>
            </a:r>
            <a:r>
              <a:rPr dirty="0" err="1">
                <a:solidFill>
                  <a:srgbClr val="00B0F0"/>
                </a:solidFill>
              </a:rPr>
              <a:t>sem</a:t>
            </a:r>
            <a:r>
              <a:rPr dirty="0">
                <a:solidFill>
                  <a:srgbClr val="00B0F0"/>
                </a:solidFill>
              </a:rPr>
              <a:t>_</a:t>
            </a:r>
            <a:r>
              <a:rPr dirty="0"/>
              <a:t> prefixes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dirty="0">
                <a:highlight>
                  <a:srgbClr val="00FF00"/>
                </a:highlight>
              </a:rPr>
              <a:t>Routines: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sem_init</a:t>
            </a:r>
            <a:r>
              <a:rPr dirty="0"/>
              <a:t> (</a:t>
            </a:r>
            <a:r>
              <a:rPr dirty="0" err="1"/>
              <a:t>sem</a:t>
            </a:r>
            <a:r>
              <a:rPr dirty="0"/>
              <a:t>, </a:t>
            </a:r>
            <a:r>
              <a:rPr dirty="0" err="1"/>
              <a:t>pshared</a:t>
            </a:r>
            <a:r>
              <a:rPr dirty="0"/>
              <a:t>, value)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sem_destroy</a:t>
            </a:r>
            <a:r>
              <a:rPr dirty="0"/>
              <a:t> (</a:t>
            </a:r>
            <a:r>
              <a:rPr dirty="0" err="1"/>
              <a:t>sem</a:t>
            </a:r>
            <a:r>
              <a:rPr dirty="0"/>
              <a:t>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sem_wait</a:t>
            </a:r>
            <a:r>
              <a:rPr dirty="0"/>
              <a:t> (</a:t>
            </a:r>
            <a:r>
              <a:rPr dirty="0" err="1"/>
              <a:t>sem</a:t>
            </a:r>
            <a:r>
              <a:rPr dirty="0"/>
              <a:t>)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➢"/>
              <a:defRPr sz="2800">
                <a:solidFill>
                  <a:srgbClr val="00B0F0"/>
                </a:solidFill>
              </a:defRPr>
            </a:pPr>
            <a:r>
              <a:rPr dirty="0"/>
              <a:t> </a:t>
            </a:r>
            <a:r>
              <a:rPr dirty="0" err="1"/>
              <a:t>sem_post</a:t>
            </a:r>
            <a:r>
              <a:rPr dirty="0"/>
              <a:t> (</a:t>
            </a:r>
            <a:r>
              <a:rPr dirty="0" err="1"/>
              <a:t>sem</a:t>
            </a:r>
            <a:r>
              <a:rPr dirty="0"/>
              <a:t>)</a:t>
            </a:r>
          </a:p>
        </p:txBody>
      </p:sp>
      <p:sp>
        <p:nvSpPr>
          <p:cNvPr id="187" name="Shape 1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Semaphores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36042" indent="-336042" defTabSz="896111">
              <a:buFont typeface="Wingdings"/>
              <a:buChar char="➢"/>
              <a:defRPr sz="3136"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sem_init</a:t>
            </a:r>
            <a:r>
              <a:rPr dirty="0">
                <a:highlight>
                  <a:srgbClr val="FFFF00"/>
                </a:highlight>
              </a:rPr>
              <a:t> (</a:t>
            </a:r>
            <a:r>
              <a:rPr dirty="0" err="1">
                <a:highlight>
                  <a:srgbClr val="FFFF00"/>
                </a:highlight>
              </a:rPr>
              <a:t>sem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dirty="0" err="1">
                <a:highlight>
                  <a:srgbClr val="FFFF00"/>
                </a:highlight>
              </a:rPr>
              <a:t>pshared</a:t>
            </a:r>
            <a:r>
              <a:rPr dirty="0">
                <a:highlight>
                  <a:srgbClr val="FFFF00"/>
                </a:highlight>
              </a:rPr>
              <a:t>, value)</a:t>
            </a:r>
            <a:r>
              <a:rPr dirty="0">
                <a:solidFill>
                  <a:srgbClr val="000000"/>
                </a:solidFill>
              </a:rPr>
              <a:t> initializes a semaphore object pointed to by </a:t>
            </a:r>
            <a:r>
              <a:rPr dirty="0" err="1"/>
              <a:t>sem</a:t>
            </a:r>
            <a:endParaRPr dirty="0"/>
          </a:p>
          <a:p>
            <a:pPr marL="728091" lvl="1" indent="-280035" defTabSz="896111">
              <a:spcBef>
                <a:spcPts val="600"/>
              </a:spcBef>
              <a:buFont typeface="Wingdings"/>
              <a:buChar char="✓"/>
              <a:defRPr sz="2744">
                <a:solidFill>
                  <a:srgbClr val="00B0F0"/>
                </a:solidFill>
              </a:defRPr>
            </a:pPr>
            <a:r>
              <a:rPr dirty="0" err="1"/>
              <a:t>pshared</a:t>
            </a:r>
            <a:r>
              <a:rPr dirty="0">
                <a:solidFill>
                  <a:srgbClr val="000000"/>
                </a:solidFill>
              </a:rPr>
              <a:t> is a sharing option; a value of 0 means the semaphore is local to the calling process</a:t>
            </a:r>
          </a:p>
          <a:p>
            <a:pPr marL="728091" lvl="1" indent="-280035" defTabSz="896111">
              <a:spcBef>
                <a:spcPts val="600"/>
              </a:spcBef>
              <a:buFont typeface="Wingdings"/>
              <a:buChar char="✓"/>
              <a:defRPr sz="2744"/>
            </a:pPr>
            <a:r>
              <a:rPr dirty="0"/>
              <a:t>gives an initial value </a:t>
            </a:r>
            <a:r>
              <a:rPr dirty="0" err="1">
                <a:solidFill>
                  <a:srgbClr val="00B0F0"/>
                </a:solidFill>
              </a:rPr>
              <a:t>value</a:t>
            </a:r>
            <a:r>
              <a:rPr dirty="0"/>
              <a:t> to the semaphore</a:t>
            </a:r>
            <a:endParaRPr dirty="0">
              <a:solidFill>
                <a:srgbClr val="00B0F0"/>
              </a:solidFill>
            </a:endParaRPr>
          </a:p>
          <a:p>
            <a:pPr marL="336042" indent="-336042" defTabSz="896111">
              <a:buFont typeface="Wingdings"/>
              <a:buChar char="➢"/>
              <a:defRPr sz="3136">
                <a:solidFill>
                  <a:srgbClr val="00B0F0"/>
                </a:solidFill>
              </a:defRPr>
            </a:pPr>
            <a:r>
              <a:rPr dirty="0" err="1">
                <a:solidFill>
                  <a:srgbClr val="002060"/>
                </a:solidFill>
                <a:highlight>
                  <a:srgbClr val="00FF00"/>
                </a:highlight>
              </a:rPr>
              <a:t>sem_destroy</a:t>
            </a:r>
            <a:r>
              <a:rPr dirty="0">
                <a:solidFill>
                  <a:srgbClr val="002060"/>
                </a:solidFill>
                <a:highlight>
                  <a:srgbClr val="00FF00"/>
                </a:highlight>
              </a:rPr>
              <a:t> (</a:t>
            </a:r>
            <a:r>
              <a:rPr dirty="0" err="1">
                <a:solidFill>
                  <a:srgbClr val="002060"/>
                </a:solidFill>
                <a:highlight>
                  <a:srgbClr val="00FF00"/>
                </a:highlight>
              </a:rPr>
              <a:t>sem</a:t>
            </a:r>
            <a:r>
              <a:rPr dirty="0">
                <a:solidFill>
                  <a:srgbClr val="002060"/>
                </a:solidFill>
                <a:highlight>
                  <a:srgbClr val="00FF00"/>
                </a:highlight>
              </a:rPr>
              <a:t>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</a:rPr>
              <a:t>frees the resources allocated to the semaphore </a:t>
            </a:r>
            <a:r>
              <a:rPr dirty="0" err="1"/>
              <a:t>sem</a:t>
            </a:r>
            <a:r>
              <a:rPr dirty="0">
                <a:solidFill>
                  <a:srgbClr val="000000"/>
                </a:solidFill>
              </a:rPr>
              <a:t> and this routine is usually called after </a:t>
            </a:r>
            <a:r>
              <a:rPr dirty="0" err="1">
                <a:solidFill>
                  <a:srgbClr val="000000"/>
                </a:solidFill>
              </a:rPr>
              <a:t>pthread_join</a:t>
            </a:r>
            <a:r>
              <a:rPr dirty="0">
                <a:solidFill>
                  <a:srgbClr val="000000"/>
                </a:solidFill>
              </a:rPr>
              <a:t>().</a:t>
            </a:r>
          </a:p>
        </p:txBody>
      </p:sp>
      <p:sp>
        <p:nvSpPr>
          <p:cNvPr id="190" name="Shape 19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Semaphores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Font typeface="Wingdings"/>
              <a:buChar char="➢"/>
              <a:defRPr>
                <a:solidFill>
                  <a:srgbClr val="00B0F0"/>
                </a:solidFill>
              </a:defRPr>
            </a:pPr>
            <a:r>
              <a:rPr dirty="0" err="1">
                <a:highlight>
                  <a:srgbClr val="FFFF00"/>
                </a:highlight>
              </a:rPr>
              <a:t>sem_wait</a:t>
            </a:r>
            <a:r>
              <a:rPr dirty="0">
                <a:highlight>
                  <a:srgbClr val="FFFF00"/>
                </a:highlight>
              </a:rPr>
              <a:t> (</a:t>
            </a:r>
            <a:r>
              <a:rPr dirty="0" err="1">
                <a:highlight>
                  <a:srgbClr val="FFFF00"/>
                </a:highlight>
              </a:rPr>
              <a:t>sem</a:t>
            </a:r>
            <a:r>
              <a:rPr dirty="0">
                <a:highlight>
                  <a:srgbClr val="FFFF00"/>
                </a:highlight>
              </a:rPr>
              <a:t>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</a:rPr>
              <a:t>atomically decreases the value of a semaphore </a:t>
            </a:r>
            <a:r>
              <a:rPr dirty="0" err="1"/>
              <a:t>sem</a:t>
            </a:r>
            <a:r>
              <a:rPr dirty="0">
                <a:solidFill>
                  <a:srgbClr val="000000"/>
                </a:solidFill>
              </a:rPr>
              <a:t> by 1, if it is negative, the calling process blocks</a:t>
            </a:r>
          </a:p>
          <a:p>
            <a:pPr marL="742950" lvl="1" indent="-285750">
              <a:spcBef>
                <a:spcPts val="600"/>
              </a:spcBef>
              <a:defRPr sz="2800"/>
            </a:pPr>
            <a:r>
              <a:rPr dirty="0"/>
              <a:t>one of the blocked processes wakes up when another process calls </a:t>
            </a:r>
            <a:r>
              <a:rPr dirty="0" err="1"/>
              <a:t>sem_post</a:t>
            </a:r>
            <a:r>
              <a:rPr dirty="0"/>
              <a:t>.</a:t>
            </a:r>
          </a:p>
          <a:p>
            <a:pPr>
              <a:buFont typeface="Wingdings"/>
              <a:buChar char="➢"/>
              <a:defRPr>
                <a:solidFill>
                  <a:srgbClr val="00B0F0"/>
                </a:solidFill>
              </a:defRPr>
            </a:pPr>
            <a:r>
              <a:rPr dirty="0" err="1">
                <a:solidFill>
                  <a:srgbClr val="002060"/>
                </a:solidFill>
                <a:highlight>
                  <a:srgbClr val="00FF00"/>
                </a:highlight>
              </a:rPr>
              <a:t>sem_post</a:t>
            </a:r>
            <a:r>
              <a:rPr dirty="0">
                <a:solidFill>
                  <a:srgbClr val="002060"/>
                </a:solidFill>
                <a:highlight>
                  <a:srgbClr val="00FF00"/>
                </a:highlight>
              </a:rPr>
              <a:t> (</a:t>
            </a:r>
            <a:r>
              <a:rPr dirty="0" err="1">
                <a:solidFill>
                  <a:srgbClr val="002060"/>
                </a:solidFill>
                <a:highlight>
                  <a:srgbClr val="00FF00"/>
                </a:highlight>
              </a:rPr>
              <a:t>sem</a:t>
            </a:r>
            <a:r>
              <a:rPr dirty="0">
                <a:solidFill>
                  <a:srgbClr val="002060"/>
                </a:solidFill>
                <a:highlight>
                  <a:srgbClr val="00FF00"/>
                </a:highlight>
              </a:rPr>
              <a:t>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</a:rPr>
              <a:t>atomically increases the value of a semaphore </a:t>
            </a:r>
            <a:r>
              <a:rPr dirty="0" err="1"/>
              <a:t>sem</a:t>
            </a:r>
            <a:r>
              <a:rPr dirty="0">
                <a:solidFill>
                  <a:srgbClr val="000000"/>
                </a:solidFill>
              </a:rPr>
              <a:t> by 1.</a:t>
            </a:r>
          </a:p>
        </p:txBody>
      </p:sp>
      <p:sp>
        <p:nvSpPr>
          <p:cNvPr id="193" name="Shape 19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Semaphores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17BC2E-E71F-4E53-0923-BE7D0D30651A}"/>
                  </a:ext>
                </a:extLst>
              </p14:cNvPr>
              <p14:cNvContentPartPr/>
              <p14:nvPr/>
            </p14:nvContentPartPr>
            <p14:xfrm>
              <a:off x="5320440" y="2095200"/>
              <a:ext cx="183528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17BC2E-E71F-4E53-0923-BE7D0D3065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1800" y="2086200"/>
                <a:ext cx="1852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0A9662-4083-D608-6AA5-BDCEA25F4C74}"/>
                  </a:ext>
                </a:extLst>
              </p14:cNvPr>
              <p14:cNvContentPartPr/>
              <p14:nvPr/>
            </p14:nvContentPartPr>
            <p14:xfrm>
              <a:off x="5335200" y="4542840"/>
              <a:ext cx="150120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0A9662-4083-D608-6AA5-BDCEA25F4C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6200" y="4534200"/>
                <a:ext cx="151884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1554</Words>
  <Application>Microsoft Office PowerPoint</Application>
  <PresentationFormat>On-screen Show (4:3)</PresentationFormat>
  <Paragraphs>171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Thread</vt:lpstr>
      <vt:lpstr>Thread</vt:lpstr>
      <vt:lpstr>POSIX Thread (Pthread)</vt:lpstr>
      <vt:lpstr>Pthread Management</vt:lpstr>
      <vt:lpstr>Pthread Management</vt:lpstr>
      <vt:lpstr>Pthread Management</vt:lpstr>
      <vt:lpstr>Pthread Management</vt:lpstr>
      <vt:lpstr>Pthread Management</vt:lpstr>
      <vt:lpstr>PowerPoint Presentation</vt:lpstr>
      <vt:lpstr>PowerPoint Presentation</vt:lpstr>
      <vt:lpstr>Mutual Exclusion (Mutex)</vt:lpstr>
      <vt:lpstr>Mutual Exclusion (Mutex)</vt:lpstr>
      <vt:lpstr>Mutual Exclusion (Mutex)</vt:lpstr>
      <vt:lpstr>Mutual Exclusion (Mutex)</vt:lpstr>
      <vt:lpstr>PowerPoint Presentation</vt:lpstr>
      <vt:lpstr>Semaphores</vt:lpstr>
      <vt:lpstr>Semaphores</vt:lpstr>
      <vt:lpstr>Semaphores</vt:lpstr>
      <vt:lpstr>Semaphores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2005076 - S. M. Kausar Parvej</cp:lastModifiedBy>
  <cp:revision>2</cp:revision>
  <dcterms:modified xsi:type="dcterms:W3CDTF">2024-11-15T04:42:05Z</dcterms:modified>
</cp:coreProperties>
</file>